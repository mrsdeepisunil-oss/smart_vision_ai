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</p:sldIdLst>
  <p:sldSz cx="20104100" cy="11309350"/>
  <p:notesSz cx="20104100" cy="113093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4473" y="2387530"/>
            <a:ext cx="14553142" cy="5490726"/>
          </a:xfrm>
        </p:spPr>
        <p:txBody>
          <a:bodyPr anchor="b"/>
          <a:lstStyle>
            <a:lvl1pPr>
              <a:defRPr sz="118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473" y="7878254"/>
            <a:ext cx="14553142" cy="142054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07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61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156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769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523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277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031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3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1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475" y="4719210"/>
            <a:ext cx="14553141" cy="3159044"/>
          </a:xfrm>
        </p:spPr>
        <p:txBody>
          <a:bodyPr anchor="b"/>
          <a:lstStyle>
            <a:lvl1pPr algn="l">
              <a:defRPr sz="659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473" y="7878255"/>
            <a:ext cx="14553142" cy="1418863"/>
          </a:xfrm>
        </p:spPr>
        <p:txBody>
          <a:bodyPr anchor="t"/>
          <a:lstStyle>
            <a:lvl1pPr marL="0" indent="0" algn="l">
              <a:buNone/>
              <a:defRPr sz="3298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4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19316" y="3398042"/>
            <a:ext cx="7249380" cy="6919124"/>
          </a:xfrm>
        </p:spPr>
        <p:txBody>
          <a:bodyPr>
            <a:normAutofit/>
          </a:bodyPr>
          <a:lstStyle>
            <a:lvl1pPr>
              <a:defRPr sz="2968"/>
            </a:lvl1pPr>
            <a:lvl2pPr>
              <a:defRPr sz="2638"/>
            </a:lvl2pPr>
            <a:lvl3pPr>
              <a:defRPr sz="2309"/>
            </a:lvl3pPr>
            <a:lvl4pPr>
              <a:defRPr sz="1979"/>
            </a:lvl4pPr>
            <a:lvl5pPr>
              <a:defRPr sz="1979"/>
            </a:lvl5pPr>
            <a:lvl6pPr>
              <a:defRPr sz="1979"/>
            </a:lvl6pPr>
            <a:lvl7pPr>
              <a:defRPr sz="1979"/>
            </a:lvl7pPr>
            <a:lvl8pPr>
              <a:defRPr sz="1979"/>
            </a:lvl8pPr>
            <a:lvl9pPr>
              <a:defRPr sz="1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4024" y="3390649"/>
            <a:ext cx="7249383" cy="6926515"/>
          </a:xfrm>
        </p:spPr>
        <p:txBody>
          <a:bodyPr>
            <a:normAutofit/>
          </a:bodyPr>
          <a:lstStyle>
            <a:lvl1pPr>
              <a:defRPr sz="2968"/>
            </a:lvl1pPr>
            <a:lvl2pPr>
              <a:defRPr sz="2638"/>
            </a:lvl2pPr>
            <a:lvl3pPr>
              <a:defRPr sz="2309"/>
            </a:lvl3pPr>
            <a:lvl4pPr>
              <a:defRPr sz="1979"/>
            </a:lvl4pPr>
            <a:lvl5pPr>
              <a:defRPr sz="1979"/>
            </a:lvl5pPr>
            <a:lvl6pPr>
              <a:defRPr sz="1979"/>
            </a:lvl6pPr>
            <a:lvl7pPr>
              <a:defRPr sz="1979"/>
            </a:lvl7pPr>
            <a:lvl8pPr>
              <a:defRPr sz="1979"/>
            </a:lvl8pPr>
            <a:lvl9pPr>
              <a:defRPr sz="1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2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9317" y="3141486"/>
            <a:ext cx="7249378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19316" y="4146762"/>
            <a:ext cx="7249380" cy="6170403"/>
          </a:xfrm>
        </p:spPr>
        <p:txBody>
          <a:bodyPr>
            <a:normAutofit/>
          </a:bodyPr>
          <a:lstStyle>
            <a:lvl1pPr>
              <a:defRPr sz="2968"/>
            </a:lvl1pPr>
            <a:lvl2pPr>
              <a:defRPr sz="2638"/>
            </a:lvl2pPr>
            <a:lvl3pPr>
              <a:defRPr sz="2309"/>
            </a:lvl3pPr>
            <a:lvl4pPr>
              <a:defRPr sz="1979"/>
            </a:lvl4pPr>
            <a:lvl5pPr>
              <a:defRPr sz="1979"/>
            </a:lvl5pPr>
            <a:lvl6pPr>
              <a:defRPr sz="1979"/>
            </a:lvl6pPr>
            <a:lvl7pPr>
              <a:defRPr sz="1979"/>
            </a:lvl7pPr>
            <a:lvl8pPr>
              <a:defRPr sz="1979"/>
            </a:lvl8pPr>
            <a:lvl9pPr>
              <a:defRPr sz="1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4027" y="3141486"/>
            <a:ext cx="7249380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4027" y="4146762"/>
            <a:ext cx="7249380" cy="6170403"/>
          </a:xfrm>
        </p:spPr>
        <p:txBody>
          <a:bodyPr>
            <a:normAutofit/>
          </a:bodyPr>
          <a:lstStyle>
            <a:lvl1pPr>
              <a:defRPr sz="2968"/>
            </a:lvl1pPr>
            <a:lvl2pPr>
              <a:defRPr sz="2638"/>
            </a:lvl2pPr>
            <a:lvl3pPr>
              <a:defRPr sz="2309"/>
            </a:lvl3pPr>
            <a:lvl4pPr>
              <a:defRPr sz="1979"/>
            </a:lvl4pPr>
            <a:lvl5pPr>
              <a:defRPr sz="1979"/>
            </a:lvl5pPr>
            <a:lvl6pPr>
              <a:defRPr sz="1979"/>
            </a:lvl6pPr>
            <a:lvl7pPr>
              <a:defRPr sz="1979"/>
            </a:lvl7pPr>
            <a:lvl8pPr>
              <a:defRPr sz="1979"/>
            </a:lvl8pPr>
            <a:lvl9pPr>
              <a:defRPr sz="1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6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2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2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469" y="2387530"/>
            <a:ext cx="5608213" cy="2387529"/>
          </a:xfrm>
        </p:spPr>
        <p:txBody>
          <a:bodyPr anchor="b"/>
          <a:lstStyle>
            <a:lvl1pPr algn="l">
              <a:defRPr sz="3958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9633" y="2387529"/>
            <a:ext cx="8567983" cy="7539567"/>
          </a:xfrm>
        </p:spPr>
        <p:txBody>
          <a:bodyPr anchor="ctr">
            <a:normAutofit/>
          </a:bodyPr>
          <a:lstStyle>
            <a:lvl1pPr>
              <a:defRPr sz="3298"/>
            </a:lvl1pPr>
            <a:lvl2pPr>
              <a:defRPr sz="2968"/>
            </a:lvl2pPr>
            <a:lvl3pPr>
              <a:defRPr sz="2638"/>
            </a:lvl3pPr>
            <a:lvl4pPr>
              <a:defRPr sz="2309"/>
            </a:lvl4pPr>
            <a:lvl5pPr>
              <a:defRPr sz="2309"/>
            </a:lvl5pPr>
            <a:lvl6pPr>
              <a:defRPr sz="2309"/>
            </a:lvl6pPr>
            <a:lvl7pPr>
              <a:defRPr sz="2309"/>
            </a:lvl7pPr>
            <a:lvl8pPr>
              <a:defRPr sz="2309"/>
            </a:lvl8pPr>
            <a:lvl9pPr>
              <a:defRPr sz="23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4470" y="5160415"/>
            <a:ext cx="5608211" cy="4775057"/>
          </a:xfrm>
        </p:spPr>
        <p:txBody>
          <a:bodyPr/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10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2744" y="3057700"/>
            <a:ext cx="8397990" cy="2596975"/>
          </a:xfrm>
        </p:spPr>
        <p:txBody>
          <a:bodyPr anchor="b">
            <a:normAutofit/>
          </a:bodyPr>
          <a:lstStyle>
            <a:lvl1pPr algn="l">
              <a:defRPr sz="593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59512" y="1884892"/>
            <a:ext cx="5277326" cy="75395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638"/>
            </a:lvl1pPr>
            <a:lvl2pPr marL="753923" indent="0">
              <a:buNone/>
              <a:defRPr sz="2638"/>
            </a:lvl2pPr>
            <a:lvl3pPr marL="1507846" indent="0">
              <a:buNone/>
              <a:defRPr sz="2638"/>
            </a:lvl3pPr>
            <a:lvl4pPr marL="2261768" indent="0">
              <a:buNone/>
              <a:defRPr sz="2638"/>
            </a:lvl4pPr>
            <a:lvl5pPr marL="3015691" indent="0">
              <a:buNone/>
              <a:defRPr sz="2638"/>
            </a:lvl5pPr>
            <a:lvl6pPr marL="3769614" indent="0">
              <a:buNone/>
              <a:defRPr sz="2638"/>
            </a:lvl6pPr>
            <a:lvl7pPr marL="4523537" indent="0">
              <a:buNone/>
              <a:defRPr sz="2638"/>
            </a:lvl7pPr>
            <a:lvl8pPr marL="5277460" indent="0">
              <a:buNone/>
              <a:defRPr sz="2638"/>
            </a:lvl8pPr>
            <a:lvl9pPr marL="6031382" indent="0">
              <a:buNone/>
              <a:defRPr sz="26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4472" y="6031653"/>
            <a:ext cx="8384918" cy="2261870"/>
          </a:xfrm>
        </p:spPr>
        <p:txBody>
          <a:bodyPr>
            <a:normAutofit/>
          </a:bodyPr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4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475" y="7916524"/>
            <a:ext cx="14553141" cy="934593"/>
          </a:xfrm>
        </p:spPr>
        <p:txBody>
          <a:bodyPr anchor="b">
            <a:normAutofit/>
          </a:bodyPr>
          <a:lstStyle>
            <a:lvl1pPr algn="l">
              <a:defRPr sz="3958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04473" y="1130935"/>
            <a:ext cx="14553142" cy="600372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638"/>
            </a:lvl1pPr>
            <a:lvl2pPr marL="753923" indent="0">
              <a:buNone/>
              <a:defRPr sz="2638"/>
            </a:lvl2pPr>
            <a:lvl3pPr marL="1507846" indent="0">
              <a:buNone/>
              <a:defRPr sz="2638"/>
            </a:lvl3pPr>
            <a:lvl4pPr marL="2261768" indent="0">
              <a:buNone/>
              <a:defRPr sz="2638"/>
            </a:lvl4pPr>
            <a:lvl5pPr marL="3015691" indent="0">
              <a:buNone/>
              <a:defRPr sz="2638"/>
            </a:lvl5pPr>
            <a:lvl6pPr marL="3769614" indent="0">
              <a:buNone/>
              <a:defRPr sz="2638"/>
            </a:lvl6pPr>
            <a:lvl7pPr marL="4523537" indent="0">
              <a:buNone/>
              <a:defRPr sz="2638"/>
            </a:lvl7pPr>
            <a:lvl8pPr marL="5277460" indent="0">
              <a:buNone/>
              <a:defRPr sz="2638"/>
            </a:lvl8pPr>
            <a:lvl9pPr marL="6031382" indent="0">
              <a:buNone/>
              <a:defRPr sz="26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4474" y="8851116"/>
            <a:ext cx="14553139" cy="814168"/>
          </a:xfrm>
        </p:spPr>
        <p:txBody>
          <a:bodyPr>
            <a:normAutofit/>
          </a:bodyPr>
          <a:lstStyle>
            <a:lvl1pPr marL="0" indent="0">
              <a:buNone/>
              <a:defRPr sz="197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35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472" y="2387529"/>
            <a:ext cx="14553144" cy="3267146"/>
          </a:xfrm>
        </p:spPr>
        <p:txBody>
          <a:bodyPr/>
          <a:lstStyle>
            <a:lvl1pPr>
              <a:defRPr sz="79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4472" y="6031653"/>
            <a:ext cx="14553144" cy="3895443"/>
          </a:xfrm>
        </p:spPr>
        <p:txBody>
          <a:bodyPr anchor="ctr">
            <a:normAutofit/>
          </a:bodyPr>
          <a:lstStyle>
            <a:lvl1pPr marL="0" indent="0">
              <a:buNone/>
              <a:defRPr sz="2968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27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6782" y="2387529"/>
            <a:ext cx="13190537" cy="3831416"/>
          </a:xfrm>
        </p:spPr>
        <p:txBody>
          <a:bodyPr/>
          <a:lstStyle>
            <a:lvl1pPr>
              <a:defRPr sz="79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3183150" y="6218945"/>
            <a:ext cx="12003838" cy="56427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309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4472" y="7174556"/>
            <a:ext cx="14553144" cy="2764508"/>
          </a:xfrm>
        </p:spPr>
        <p:txBody>
          <a:bodyPr anchor="ctr">
            <a:normAutofit/>
          </a:bodyPr>
          <a:lstStyle>
            <a:lvl1pPr marL="0" indent="0">
              <a:buNone/>
              <a:defRPr sz="2968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481251" y="1601669"/>
            <a:ext cx="1322319" cy="318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20118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85589" y="4310329"/>
            <a:ext cx="1322319" cy="3188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20118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7238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471" y="5152039"/>
            <a:ext cx="14553146" cy="2726216"/>
          </a:xfrm>
        </p:spPr>
        <p:txBody>
          <a:bodyPr anchor="b"/>
          <a:lstStyle>
            <a:lvl1pPr algn="l">
              <a:defRPr sz="659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472" y="7878255"/>
            <a:ext cx="14553144" cy="1418863"/>
          </a:xfrm>
        </p:spPr>
        <p:txBody>
          <a:bodyPr anchor="t"/>
          <a:lstStyle>
            <a:lvl1pPr marL="0" indent="0" algn="l">
              <a:buNone/>
              <a:defRPr sz="3298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74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9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703" y="3267145"/>
            <a:ext cx="4859259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75884" y="4398081"/>
            <a:ext cx="4827078" cy="5919084"/>
          </a:xfrm>
        </p:spPr>
        <p:txBody>
          <a:bodyPr anchor="t">
            <a:normAutofit/>
          </a:bodyPr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3993" y="3267145"/>
            <a:ext cx="4841739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6386590" y="4398081"/>
            <a:ext cx="4859141" cy="5919084"/>
          </a:xfrm>
        </p:spPr>
        <p:txBody>
          <a:bodyPr anchor="t">
            <a:normAutofit/>
          </a:bodyPr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748334" y="3267145"/>
            <a:ext cx="4834932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748334" y="4398081"/>
            <a:ext cx="4834932" cy="5919084"/>
          </a:xfrm>
        </p:spPr>
        <p:txBody>
          <a:bodyPr anchor="t">
            <a:normAutofit/>
          </a:bodyPr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144253" y="3518465"/>
            <a:ext cx="0" cy="6534291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480422" y="3518465"/>
            <a:ext cx="0" cy="65416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35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9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884" y="7010130"/>
            <a:ext cx="4848020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75884" y="3644124"/>
            <a:ext cx="4848020" cy="25131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638"/>
            </a:lvl1pPr>
            <a:lvl2pPr marL="753923" indent="0">
              <a:buNone/>
              <a:defRPr sz="2638"/>
            </a:lvl2pPr>
            <a:lvl3pPr marL="1507846" indent="0">
              <a:buNone/>
              <a:defRPr sz="2638"/>
            </a:lvl3pPr>
            <a:lvl4pPr marL="2261768" indent="0">
              <a:buNone/>
              <a:defRPr sz="2638"/>
            </a:lvl4pPr>
            <a:lvl5pPr marL="3015691" indent="0">
              <a:buNone/>
              <a:defRPr sz="2638"/>
            </a:lvl5pPr>
            <a:lvl6pPr marL="3769614" indent="0">
              <a:buNone/>
              <a:defRPr sz="2638"/>
            </a:lvl6pPr>
            <a:lvl7pPr marL="4523537" indent="0">
              <a:buNone/>
              <a:defRPr sz="2638"/>
            </a:lvl7pPr>
            <a:lvl8pPr marL="5277460" indent="0">
              <a:buNone/>
              <a:defRPr sz="2638"/>
            </a:lvl8pPr>
            <a:lvl9pPr marL="6031382" indent="0">
              <a:buNone/>
              <a:defRPr sz="26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75884" y="7960430"/>
            <a:ext cx="4848020" cy="1087051"/>
          </a:xfrm>
        </p:spPr>
        <p:txBody>
          <a:bodyPr anchor="t">
            <a:normAutofit/>
          </a:bodyPr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3418" y="7010130"/>
            <a:ext cx="4832314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413416" y="3644124"/>
            <a:ext cx="4832314" cy="25131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638"/>
            </a:lvl1pPr>
            <a:lvl2pPr marL="753923" indent="0">
              <a:buNone/>
              <a:defRPr sz="2638"/>
            </a:lvl2pPr>
            <a:lvl3pPr marL="1507846" indent="0">
              <a:buNone/>
              <a:defRPr sz="2638"/>
            </a:lvl3pPr>
            <a:lvl4pPr marL="2261768" indent="0">
              <a:buNone/>
              <a:defRPr sz="2638"/>
            </a:lvl4pPr>
            <a:lvl5pPr marL="3015691" indent="0">
              <a:buNone/>
              <a:defRPr sz="2638"/>
            </a:lvl5pPr>
            <a:lvl6pPr marL="3769614" indent="0">
              <a:buNone/>
              <a:defRPr sz="2638"/>
            </a:lvl6pPr>
            <a:lvl7pPr marL="4523537" indent="0">
              <a:buNone/>
              <a:defRPr sz="2638"/>
            </a:lvl7pPr>
            <a:lvl8pPr marL="5277460" indent="0">
              <a:buNone/>
              <a:defRPr sz="2638"/>
            </a:lvl8pPr>
            <a:lvl9pPr marL="6031382" indent="0">
              <a:buNone/>
              <a:defRPr sz="26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6411186" y="7960428"/>
            <a:ext cx="4838713" cy="1087051"/>
          </a:xfrm>
        </p:spPr>
        <p:txBody>
          <a:bodyPr anchor="t">
            <a:normAutofit/>
          </a:bodyPr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748334" y="7010130"/>
            <a:ext cx="4834932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1748333" y="3644124"/>
            <a:ext cx="4834932" cy="25131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638"/>
            </a:lvl1pPr>
            <a:lvl2pPr marL="753923" indent="0">
              <a:buNone/>
              <a:defRPr sz="2638"/>
            </a:lvl2pPr>
            <a:lvl3pPr marL="1507846" indent="0">
              <a:buNone/>
              <a:defRPr sz="2638"/>
            </a:lvl3pPr>
            <a:lvl4pPr marL="2261768" indent="0">
              <a:buNone/>
              <a:defRPr sz="2638"/>
            </a:lvl4pPr>
            <a:lvl5pPr marL="3015691" indent="0">
              <a:buNone/>
              <a:defRPr sz="2638"/>
            </a:lvl5pPr>
            <a:lvl6pPr marL="3769614" indent="0">
              <a:buNone/>
              <a:defRPr sz="2638"/>
            </a:lvl6pPr>
            <a:lvl7pPr marL="4523537" indent="0">
              <a:buNone/>
              <a:defRPr sz="2638"/>
            </a:lvl7pPr>
            <a:lvl8pPr marL="5277460" indent="0">
              <a:buNone/>
              <a:defRPr sz="2638"/>
            </a:lvl8pPr>
            <a:lvl9pPr marL="6031382" indent="0">
              <a:buNone/>
              <a:defRPr sz="26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748128" y="7960425"/>
            <a:ext cx="4841337" cy="1087051"/>
          </a:xfrm>
        </p:spPr>
        <p:txBody>
          <a:bodyPr anchor="t">
            <a:normAutofit/>
          </a:bodyPr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6144253" y="3518465"/>
            <a:ext cx="0" cy="6534291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480422" y="3518465"/>
            <a:ext cx="0" cy="65416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20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2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93300" y="709454"/>
            <a:ext cx="2889966" cy="9607712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5885" y="1463412"/>
            <a:ext cx="12240463" cy="88537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9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402509"/>
            <a:ext cx="6656865" cy="69068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769695"/>
            <a:ext cx="2510394" cy="3900807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4195902" y="2764508"/>
            <a:ext cx="4649073" cy="4649399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3190698" y="1"/>
            <a:ext cx="2643918" cy="18822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4190734" y="10052756"/>
            <a:ext cx="1638626" cy="125659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7211517" y="0"/>
            <a:ext cx="1130856" cy="18848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411" y="746565"/>
            <a:ext cx="15507996" cy="23095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9317" y="3385415"/>
            <a:ext cx="14752473" cy="6918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6746169" y="2953017"/>
            <a:ext cx="1633571" cy="50260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814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4760548" y="5318772"/>
            <a:ext cx="6365088" cy="5026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14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7070908" y="487680"/>
            <a:ext cx="1382155" cy="1265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617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94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txStyles>
    <p:titleStyle>
      <a:lvl1pPr algn="l" defTabSz="753923" rtl="0" eaLnBrk="1" latinLnBrk="0" hangingPunct="1">
        <a:spcBef>
          <a:spcPct val="0"/>
        </a:spcBef>
        <a:buNone/>
        <a:defRPr sz="6926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65442" indent="-565442" algn="l" defTabSz="753923" rtl="0" eaLnBrk="1" latinLnBrk="0" hangingPunct="1">
        <a:spcBef>
          <a:spcPts val="1649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3298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1225125" indent="-471202" algn="l" defTabSz="753923" rtl="0" eaLnBrk="1" latinLnBrk="0" hangingPunct="1">
        <a:spcBef>
          <a:spcPts val="1649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96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884807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638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638730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309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3392653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309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4132394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309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4900498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309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5654421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309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6408344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309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063555" y="2337767"/>
            <a:ext cx="11951843" cy="18947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200" spc="-65" dirty="0" err="1"/>
              <a:t>SmartVision</a:t>
            </a:r>
            <a:r>
              <a:rPr lang="en-US" sz="12200" spc="-65" dirty="0"/>
              <a:t> </a:t>
            </a:r>
            <a:r>
              <a:rPr lang="en-US" sz="12200" spc="-395" dirty="0">
                <a:solidFill>
                  <a:srgbClr val="DFFF9E"/>
                </a:solidFill>
              </a:rPr>
              <a:t>AI</a:t>
            </a:r>
            <a:endParaRPr sz="12200" dirty="0"/>
          </a:p>
        </p:txBody>
      </p:sp>
      <p:sp>
        <p:nvSpPr>
          <p:cNvPr id="5" name="object 5"/>
          <p:cNvSpPr txBox="1"/>
          <p:nvPr/>
        </p:nvSpPr>
        <p:spPr>
          <a:xfrm>
            <a:off x="4718050" y="5367020"/>
            <a:ext cx="960374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55" dirty="0">
                <a:solidFill>
                  <a:srgbClr val="F6F6F6"/>
                </a:solidFill>
                <a:latin typeface="Arial MT"/>
                <a:cs typeface="Arial MT"/>
              </a:rPr>
              <a:t>Intelligent</a:t>
            </a:r>
            <a:r>
              <a:rPr sz="3600" spc="-8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3600" spc="-95" dirty="0">
                <a:solidFill>
                  <a:srgbClr val="FFFFFF"/>
                </a:solidFill>
                <a:latin typeface="Arial MT"/>
                <a:cs typeface="Arial MT"/>
              </a:rPr>
              <a:t>Multi-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3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5" dirty="0">
                <a:solidFill>
                  <a:srgbClr val="E8E8E8"/>
                </a:solidFill>
                <a:latin typeface="Arial MT"/>
                <a:cs typeface="Arial MT"/>
              </a:rPr>
              <a:t>Object</a:t>
            </a:r>
            <a:r>
              <a:rPr sz="3600" spc="-16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3600" spc="-70" dirty="0">
                <a:solidFill>
                  <a:srgbClr val="F6F6F6"/>
                </a:solidFill>
                <a:latin typeface="Arial MT"/>
                <a:cs typeface="Arial MT"/>
              </a:rPr>
              <a:t>Recognition</a:t>
            </a:r>
            <a:r>
              <a:rPr sz="3600" spc="-1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3600" spc="-75" dirty="0">
                <a:solidFill>
                  <a:srgbClr val="E8E8E8"/>
                </a:solidFill>
                <a:latin typeface="Arial MT"/>
                <a:cs typeface="Arial MT"/>
              </a:rPr>
              <a:t>System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75450" y="7084471"/>
            <a:ext cx="495363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40" dirty="0">
                <a:solidFill>
                  <a:srgbClr val="F7F7F7"/>
                </a:solidFill>
                <a:latin typeface="Arial MT"/>
                <a:cs typeface="Arial MT"/>
              </a:rPr>
              <a:t>End-</a:t>
            </a:r>
            <a:r>
              <a:rPr sz="2450" spc="-30" dirty="0">
                <a:solidFill>
                  <a:srgbClr val="F7F7F7"/>
                </a:solidFill>
                <a:latin typeface="Arial MT"/>
                <a:cs typeface="Arial MT"/>
              </a:rPr>
              <a:t>to-</a:t>
            </a:r>
            <a:r>
              <a:rPr sz="2450" dirty="0">
                <a:solidFill>
                  <a:srgbClr val="F7F7F7"/>
                </a:solidFill>
                <a:latin typeface="Arial MT"/>
                <a:cs typeface="Arial MT"/>
              </a:rPr>
              <a:t>End</a:t>
            </a:r>
            <a:r>
              <a:rPr sz="2450" spc="65" dirty="0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Deep</a:t>
            </a:r>
            <a:r>
              <a:rPr sz="2450" spc="-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0F0F0"/>
                </a:solidFill>
                <a:latin typeface="Arial MT"/>
                <a:cs typeface="Arial MT"/>
              </a:rPr>
              <a:t>Learning</a:t>
            </a:r>
            <a:r>
              <a:rPr sz="2450" spc="145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6F6F6"/>
                </a:solidFill>
                <a:latin typeface="Arial MT"/>
                <a:cs typeface="Arial MT"/>
              </a:rPr>
              <a:t>Solution</a:t>
            </a:r>
            <a:endParaRPr sz="24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95"/>
              </a:spcBef>
            </a:pPr>
            <a:r>
              <a:rPr spc="160" dirty="0"/>
              <a:t>Identifying</a:t>
            </a:r>
            <a:r>
              <a:rPr spc="70" dirty="0"/>
              <a:t> </a:t>
            </a:r>
            <a:r>
              <a:rPr spc="85" dirty="0"/>
              <a:t>the</a:t>
            </a:r>
            <a:r>
              <a:rPr spc="-180" dirty="0"/>
              <a:t> </a:t>
            </a:r>
            <a:r>
              <a:rPr spc="120" dirty="0"/>
              <a:t>Recognition</a:t>
            </a:r>
            <a:r>
              <a:rPr spc="325" dirty="0"/>
              <a:t> </a:t>
            </a:r>
            <a:r>
              <a:rPr spc="-25" dirty="0"/>
              <a:t>Gap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44484" y="4627865"/>
            <a:ext cx="8030845" cy="905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17800"/>
              </a:lnSpc>
              <a:spcBef>
                <a:spcPts val="100"/>
              </a:spcBef>
            </a:pPr>
            <a:r>
              <a:rPr sz="2450" dirty="0">
                <a:solidFill>
                  <a:srgbClr val="E4E4E4"/>
                </a:solidFill>
                <a:latin typeface="Arial MT"/>
                <a:cs typeface="Arial MT"/>
              </a:rPr>
              <a:t>Organizations</a:t>
            </a:r>
            <a:r>
              <a:rPr sz="2450" spc="170" dirty="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across</a:t>
            </a:r>
            <a:r>
              <a:rPr sz="2450" spc="1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industries</a:t>
            </a:r>
            <a:r>
              <a:rPr sz="2450" spc="3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9E9E9"/>
                </a:solidFill>
                <a:latin typeface="Arial MT"/>
                <a:cs typeface="Arial MT"/>
              </a:rPr>
              <a:t>face</a:t>
            </a:r>
            <a:r>
              <a:rPr sz="2450" spc="15" dirty="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B5C6A1"/>
                </a:solidFill>
                <a:latin typeface="Arial MT"/>
                <a:cs typeface="Arial MT"/>
              </a:rPr>
              <a:t>a</a:t>
            </a:r>
            <a:r>
              <a:rPr sz="2450" spc="-170" dirty="0">
                <a:solidFill>
                  <a:srgbClr val="B5C6A1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6E6E6"/>
                </a:solidFill>
                <a:latin typeface="Arial MT"/>
                <a:cs typeface="Arial MT"/>
              </a:rPr>
              <a:t>critical</a:t>
            </a:r>
            <a:r>
              <a:rPr sz="2450" spc="35" dirty="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2E2E2"/>
                </a:solidFill>
                <a:latin typeface="Arial MT"/>
                <a:cs typeface="Arial MT"/>
              </a:rPr>
              <a:t>need</a:t>
            </a:r>
            <a:r>
              <a:rPr sz="2450" spc="-65" dirty="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A0A375"/>
                </a:solidFill>
                <a:latin typeface="Arial MT"/>
                <a:cs typeface="Arial MT"/>
              </a:rPr>
              <a:t>for </a:t>
            </a:r>
            <a:r>
              <a:rPr sz="2450" dirty="0">
                <a:solidFill>
                  <a:srgbClr val="363100"/>
                </a:solidFill>
                <a:latin typeface="Arial MT"/>
                <a:cs typeface="Arial MT"/>
              </a:rPr>
              <a:t>intelligent</a:t>
            </a:r>
            <a:r>
              <a:rPr sz="2450" spc="10" dirty="0">
                <a:solidFill>
                  <a:srgbClr val="36310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181F00"/>
                </a:solidFill>
                <a:latin typeface="Arial MT"/>
                <a:cs typeface="Arial MT"/>
              </a:rPr>
              <a:t>systems</a:t>
            </a:r>
            <a:r>
              <a:rPr sz="2450" spc="55" dirty="0">
                <a:solidFill>
                  <a:srgbClr val="181F0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DFDFDF"/>
                </a:solidFill>
                <a:latin typeface="Arial MT"/>
                <a:cs typeface="Arial MT"/>
              </a:rPr>
              <a:t>that</a:t>
            </a:r>
            <a:r>
              <a:rPr sz="2450" spc="-15" dirty="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accurately</a:t>
            </a:r>
            <a:r>
              <a:rPr sz="2450" spc="7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navigate</a:t>
            </a:r>
            <a:r>
              <a:rPr sz="24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F7F7F7"/>
                </a:solidFill>
                <a:latin typeface="Arial MT"/>
                <a:cs typeface="Arial MT"/>
              </a:rPr>
              <a:t>real-</a:t>
            </a:r>
            <a:r>
              <a:rPr sz="2450" spc="-10" dirty="0">
                <a:solidFill>
                  <a:srgbClr val="F7F7F7"/>
                </a:solidFill>
                <a:latin typeface="Arial MT"/>
                <a:cs typeface="Arial MT"/>
              </a:rPr>
              <a:t>world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9649" y="5557810"/>
            <a:ext cx="243967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10" dirty="0">
                <a:solidFill>
                  <a:srgbClr val="BCC48C"/>
                </a:solidFill>
                <a:latin typeface="Arial MT"/>
                <a:cs typeface="Arial MT"/>
              </a:rPr>
              <a:t>visual</a:t>
            </a:r>
            <a:r>
              <a:rPr sz="2550" spc="-150" dirty="0">
                <a:solidFill>
                  <a:srgbClr val="BCC48C"/>
                </a:solidFill>
                <a:latin typeface="Arial MT"/>
                <a:cs typeface="Arial MT"/>
              </a:rPr>
              <a:t> </a:t>
            </a:r>
            <a:r>
              <a:rPr sz="2550" spc="-70" dirty="0">
                <a:solidFill>
                  <a:srgbClr val="FFFFFF"/>
                </a:solidFill>
                <a:latin typeface="Arial MT"/>
                <a:cs typeface="Arial MT"/>
              </a:rPr>
              <a:t>complexity.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73847" y="5616709"/>
            <a:ext cx="2994025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90" dirty="0">
                <a:solidFill>
                  <a:srgbClr val="EBFFB8"/>
                </a:solidFill>
                <a:latin typeface="Arial MT"/>
                <a:cs typeface="Arial MT"/>
              </a:rPr>
              <a:t>The</a:t>
            </a:r>
            <a:r>
              <a:rPr sz="3350" spc="40" dirty="0">
                <a:solidFill>
                  <a:srgbClr val="EBFFB8"/>
                </a:solidFill>
                <a:latin typeface="Arial MT"/>
                <a:cs typeface="Arial MT"/>
              </a:rPr>
              <a:t> </a:t>
            </a:r>
            <a:r>
              <a:rPr sz="3350" spc="100" dirty="0">
                <a:solidFill>
                  <a:srgbClr val="DDF7A1"/>
                </a:solidFill>
                <a:latin typeface="Arial MT"/>
                <a:cs typeface="Arial MT"/>
              </a:rPr>
              <a:t>Challenge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2801" y="6418387"/>
            <a:ext cx="5056505" cy="178498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10515" indent="-297815">
              <a:lnSpc>
                <a:spcPct val="100000"/>
              </a:lnSpc>
              <a:spcBef>
                <a:spcPts val="620"/>
              </a:spcBef>
              <a:buClr>
                <a:srgbClr val="E8FFE9"/>
              </a:buClr>
              <a:buChar char="•"/>
              <a:tabLst>
                <a:tab pos="310515" algn="l"/>
              </a:tabLst>
            </a:pPr>
            <a:r>
              <a:rPr sz="2450" dirty="0">
                <a:solidFill>
                  <a:srgbClr val="F7F7F7"/>
                </a:solidFill>
                <a:latin typeface="Arial MT"/>
                <a:cs typeface="Arial MT"/>
              </a:rPr>
              <a:t>Multi-category</a:t>
            </a:r>
            <a:r>
              <a:rPr sz="2450" spc="-55" dirty="0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BEBEB"/>
                </a:solidFill>
                <a:latin typeface="Arial MT"/>
                <a:cs typeface="Arial MT"/>
              </a:rPr>
              <a:t>object</a:t>
            </a:r>
            <a:r>
              <a:rPr sz="2450" spc="6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6F6F6"/>
                </a:solidFill>
                <a:latin typeface="Arial MT"/>
                <a:cs typeface="Arial MT"/>
              </a:rPr>
              <a:t>identification</a:t>
            </a:r>
            <a:endParaRPr sz="2450">
              <a:latin typeface="Arial MT"/>
              <a:cs typeface="Arial MT"/>
            </a:endParaRPr>
          </a:p>
          <a:p>
            <a:pPr marL="308610" indent="-295910">
              <a:lnSpc>
                <a:spcPct val="100000"/>
              </a:lnSpc>
              <a:spcBef>
                <a:spcPts val="525"/>
              </a:spcBef>
              <a:buClr>
                <a:srgbClr val="E8FFED"/>
              </a:buClr>
              <a:buChar char="•"/>
              <a:tabLst>
                <a:tab pos="308610" algn="l"/>
              </a:tabLst>
            </a:pPr>
            <a:r>
              <a:rPr sz="2450" dirty="0">
                <a:solidFill>
                  <a:srgbClr val="E9E9E9"/>
                </a:solidFill>
                <a:latin typeface="Arial MT"/>
                <a:cs typeface="Arial MT"/>
              </a:rPr>
              <a:t>Handling</a:t>
            </a:r>
            <a:r>
              <a:rPr sz="2450" spc="5" dirty="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diverse</a:t>
            </a:r>
            <a:r>
              <a:rPr sz="2450" spc="-2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lighting/angles</a:t>
            </a:r>
            <a:endParaRPr sz="2450">
              <a:latin typeface="Arial MT"/>
              <a:cs typeface="Arial MT"/>
            </a:endParaRPr>
          </a:p>
          <a:p>
            <a:pPr marL="311150" indent="-298450">
              <a:lnSpc>
                <a:spcPct val="100000"/>
              </a:lnSpc>
              <a:spcBef>
                <a:spcPts val="520"/>
              </a:spcBef>
              <a:buClr>
                <a:srgbClr val="E8FFE9"/>
              </a:buClr>
              <a:buChar char="•"/>
              <a:tabLst>
                <a:tab pos="311150" algn="l"/>
              </a:tabLst>
            </a:pPr>
            <a:r>
              <a:rPr sz="2450" spc="-35" dirty="0">
                <a:solidFill>
                  <a:srgbClr val="F4F4F4"/>
                </a:solidFill>
                <a:latin typeface="Arial MT"/>
                <a:cs typeface="Arial MT"/>
              </a:rPr>
              <a:t>Low-</a:t>
            </a:r>
            <a:r>
              <a:rPr sz="2450" dirty="0">
                <a:solidFill>
                  <a:srgbClr val="F4F4F4"/>
                </a:solidFill>
                <a:latin typeface="Arial MT"/>
                <a:cs typeface="Arial MT"/>
              </a:rPr>
              <a:t>latency</a:t>
            </a:r>
            <a:r>
              <a:rPr sz="2450" spc="145" dirty="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F2F2F2"/>
                </a:solidFill>
                <a:latin typeface="Arial MT"/>
                <a:cs typeface="Arial MT"/>
              </a:rPr>
              <a:t>real-</a:t>
            </a:r>
            <a:r>
              <a:rPr sz="2450" dirty="0">
                <a:solidFill>
                  <a:srgbClr val="F2F2F2"/>
                </a:solidFill>
                <a:latin typeface="Arial MT"/>
                <a:cs typeface="Arial MT"/>
              </a:rPr>
              <a:t>time</a:t>
            </a:r>
            <a:r>
              <a:rPr sz="2450" spc="12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inference</a:t>
            </a:r>
            <a:endParaRPr sz="2450">
              <a:latin typeface="Arial MT"/>
              <a:cs typeface="Arial MT"/>
            </a:endParaRPr>
          </a:p>
          <a:p>
            <a:pPr marL="311785" indent="-299085">
              <a:lnSpc>
                <a:spcPct val="100000"/>
              </a:lnSpc>
              <a:spcBef>
                <a:spcPts val="525"/>
              </a:spcBef>
              <a:buClr>
                <a:srgbClr val="E8FFED"/>
              </a:buClr>
              <a:buChar char="•"/>
              <a:tabLst>
                <a:tab pos="311785" algn="l"/>
              </a:tabLst>
            </a:pPr>
            <a:r>
              <a:rPr sz="2450" dirty="0">
                <a:solidFill>
                  <a:srgbClr val="E2E2E2"/>
                </a:solidFill>
                <a:latin typeface="Arial MT"/>
                <a:cs typeface="Arial MT"/>
              </a:rPr>
              <a:t>Scalability</a:t>
            </a:r>
            <a:r>
              <a:rPr sz="2450" spc="70" dirty="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0F0F0"/>
                </a:solidFill>
                <a:latin typeface="Arial MT"/>
                <a:cs typeface="Arial MT"/>
              </a:rPr>
              <a:t>for</a:t>
            </a:r>
            <a:r>
              <a:rPr sz="2450" spc="15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cloud</a:t>
            </a:r>
            <a:r>
              <a:rPr sz="2450" spc="-1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deployment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76454" y="6638275"/>
            <a:ext cx="7028180" cy="1344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 algn="just">
              <a:lnSpc>
                <a:spcPct val="117800"/>
              </a:lnSpc>
              <a:spcBef>
                <a:spcPts val="100"/>
              </a:spcBef>
            </a:pPr>
            <a:r>
              <a:rPr sz="2450" dirty="0">
                <a:solidFill>
                  <a:srgbClr val="EBEBEB"/>
                </a:solidFill>
                <a:latin typeface="Arial MT"/>
                <a:cs typeface="Arial MT"/>
              </a:rPr>
              <a:t>Manual</a:t>
            </a:r>
            <a:r>
              <a:rPr sz="2450" spc="-5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CFCFCF"/>
                </a:solidFill>
                <a:latin typeface="Arial MT"/>
                <a:cs typeface="Arial MT"/>
              </a:rPr>
              <a:t>image</a:t>
            </a:r>
            <a:r>
              <a:rPr sz="2450" spc="-5" dirty="0">
                <a:solidFill>
                  <a:srgbClr val="CFCFC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DEDED"/>
                </a:solidFill>
                <a:latin typeface="Arial MT"/>
                <a:cs typeface="Arial MT"/>
              </a:rPr>
              <a:t>annotation</a:t>
            </a:r>
            <a:r>
              <a:rPr sz="2450" spc="7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9FFE6"/>
                </a:solidFill>
                <a:latin typeface="Arial MT"/>
                <a:cs typeface="Arial MT"/>
              </a:rPr>
              <a:t>is</a:t>
            </a:r>
            <a:r>
              <a:rPr sz="2450" spc="-90" dirty="0">
                <a:solidFill>
                  <a:srgbClr val="E9FFE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2E2E2"/>
                </a:solidFill>
                <a:latin typeface="Arial MT"/>
                <a:cs typeface="Arial MT"/>
              </a:rPr>
              <a:t>slow,</a:t>
            </a:r>
            <a:r>
              <a:rPr sz="2450" spc="-15" dirty="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sz="2450" spc="-15" dirty="0">
                <a:solidFill>
                  <a:srgbClr val="F6F6F6"/>
                </a:solidFill>
                <a:latin typeface="Arial MT"/>
                <a:cs typeface="Arial MT"/>
              </a:rPr>
              <a:t>error-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prone,</a:t>
            </a:r>
            <a:r>
              <a:rPr sz="2450" spc="15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D1D1D1"/>
                </a:solidFill>
                <a:latin typeface="Arial MT"/>
                <a:cs typeface="Arial MT"/>
              </a:rPr>
              <a:t>and </a:t>
            </a:r>
            <a:r>
              <a:rPr sz="2450" dirty="0">
                <a:solidFill>
                  <a:srgbClr val="EBEBEB"/>
                </a:solidFill>
                <a:latin typeface="Arial MT"/>
                <a:cs typeface="Arial MT"/>
              </a:rPr>
              <a:t>impossible</a:t>
            </a:r>
            <a:r>
              <a:rPr sz="2450" spc="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0F0F0"/>
                </a:solidFill>
                <a:latin typeface="Arial MT"/>
                <a:cs typeface="Arial MT"/>
              </a:rPr>
              <a:t>to</a:t>
            </a:r>
            <a:r>
              <a:rPr sz="2450" spc="-100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6E6E6"/>
                </a:solidFill>
                <a:latin typeface="Arial MT"/>
                <a:cs typeface="Arial MT"/>
              </a:rPr>
              <a:t>scale</a:t>
            </a:r>
            <a:r>
              <a:rPr sz="2450" spc="-20" dirty="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2E2E2"/>
                </a:solidFill>
                <a:latin typeface="Arial MT"/>
                <a:cs typeface="Arial MT"/>
              </a:rPr>
              <a:t>for</a:t>
            </a:r>
            <a:r>
              <a:rPr sz="2450" spc="10" dirty="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sz="2450" spc="-35" dirty="0">
                <a:solidFill>
                  <a:srgbClr val="FFFFFF"/>
                </a:solidFill>
                <a:latin typeface="Arial MT"/>
                <a:cs typeface="Arial MT"/>
              </a:rPr>
              <a:t>high-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volume</a:t>
            </a:r>
            <a:r>
              <a:rPr sz="245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surveillance</a:t>
            </a:r>
            <a:r>
              <a:rPr sz="245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DFFFE2"/>
                </a:solidFill>
                <a:latin typeface="Arial MT"/>
                <a:cs typeface="Arial MT"/>
              </a:rPr>
              <a:t>or </a:t>
            </a:r>
            <a:r>
              <a:rPr sz="2450" dirty="0">
                <a:solidFill>
                  <a:srgbClr val="EBEBEB"/>
                </a:solidFill>
                <a:latin typeface="Arial MT"/>
                <a:cs typeface="Arial MT"/>
              </a:rPr>
              <a:t>retail</a:t>
            </a:r>
            <a:r>
              <a:rPr sz="2450" spc="-6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environments.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9787B81-C7DF-412B-A405-EF4454012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>
            <a:alphaModFix amt="35000"/>
          </a:blip>
          <a:srcRect l="62129" r="12297"/>
          <a:stretch>
            <a:fillRect/>
          </a:stretch>
        </p:blipFill>
        <p:spPr>
          <a:xfrm>
            <a:off x="20" y="-1"/>
            <a:ext cx="20104080" cy="113093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65410" y="746565"/>
            <a:ext cx="15507996" cy="2309578"/>
          </a:xfrm>
          <a:prstGeom prst="rect">
            <a:avLst/>
          </a:prstGeom>
        </p:spPr>
        <p:txBody>
          <a:bodyPr vert="horz" lIns="0" tIns="12065" rIns="0" bIns="0" rtlCol="0">
            <a:normAutofit/>
          </a:bodyPr>
          <a:lstStyle/>
          <a:p>
            <a:pPr marL="4445">
              <a:spcBef>
                <a:spcPts val="95"/>
              </a:spcBef>
            </a:pPr>
            <a:r>
              <a:rPr spc="55" dirty="0"/>
              <a:t>Integrated</a:t>
            </a:r>
            <a:r>
              <a:rPr spc="310" dirty="0"/>
              <a:t> </a:t>
            </a:r>
            <a:r>
              <a:rPr dirty="0"/>
              <a:t>AI</a:t>
            </a:r>
            <a:r>
              <a:rPr spc="-295" dirty="0"/>
              <a:t> </a:t>
            </a:r>
            <a:r>
              <a:rPr spc="85" dirty="0"/>
              <a:t>Vision</a:t>
            </a:r>
            <a:r>
              <a:rPr spc="5" dirty="0"/>
              <a:t> </a:t>
            </a:r>
            <a:r>
              <a:rPr spc="105" dirty="0"/>
              <a:t>Solution</a:t>
            </a:r>
            <a:endParaRPr lang="en-US" spc="105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A91832E-6BC8-0CE2-B99C-723CD8883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Bridging classification &amp; Detection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Our platform combines state-of-the-art CNNs with YOLOv8 to provide a comprehensive recognition pipeline.</a:t>
            </a:r>
          </a:p>
          <a:p>
            <a:pPr marL="0" indent="0">
              <a:buNone/>
            </a:pPr>
            <a:endParaRPr lang="en-IN" dirty="0"/>
          </a:p>
          <a:p>
            <a:pPr lvl="1">
              <a:buFont typeface="+mj-lt"/>
              <a:buAutoNum type="arabicPeriod"/>
            </a:pPr>
            <a:r>
              <a:rPr lang="en-IN" dirty="0"/>
              <a:t>Image Classification: Identifying individual objects using Transfer Learning.</a:t>
            </a:r>
          </a:p>
          <a:p>
            <a:pPr lvl="1">
              <a:buFont typeface="+mj-lt"/>
              <a:buAutoNum type="arabicPeriod"/>
            </a:pPr>
            <a:r>
              <a:rPr lang="en-IN" dirty="0"/>
              <a:t>Object Detection: Simultaneous localization of multiple objects in one frame.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35"/>
              </a:spcBef>
            </a:pPr>
            <a:r>
              <a:rPr sz="7050" spc="-254" dirty="0"/>
              <a:t>Targeted</a:t>
            </a:r>
            <a:r>
              <a:rPr sz="7050" spc="-130" dirty="0"/>
              <a:t> </a:t>
            </a:r>
            <a:r>
              <a:rPr sz="7050" spc="-145" dirty="0"/>
              <a:t>Dataset</a:t>
            </a:r>
            <a:r>
              <a:rPr sz="7050" spc="-75" dirty="0"/>
              <a:t> </a:t>
            </a:r>
            <a:r>
              <a:rPr sz="7050" spc="-10" dirty="0"/>
              <a:t>Characteristics</a:t>
            </a:r>
            <a:endParaRPr sz="7050"/>
          </a:p>
        </p:txBody>
      </p:sp>
      <p:sp>
        <p:nvSpPr>
          <p:cNvPr id="9" name="object 9"/>
          <p:cNvSpPr/>
          <p:nvPr/>
        </p:nvSpPr>
        <p:spPr>
          <a:xfrm>
            <a:off x="15706" y="5717103"/>
            <a:ext cx="20080605" cy="447675"/>
          </a:xfrm>
          <a:custGeom>
            <a:avLst/>
            <a:gdLst/>
            <a:ahLst/>
            <a:cxnLst/>
            <a:rect l="l" t="t" r="r" b="b"/>
            <a:pathLst>
              <a:path w="20080605" h="447675">
                <a:moveTo>
                  <a:pt x="20080541" y="447630"/>
                </a:moveTo>
                <a:lnTo>
                  <a:pt x="0" y="44763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476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12338" y="5616709"/>
            <a:ext cx="273177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DBF99E"/>
                </a:solidFill>
                <a:latin typeface="Arial MT"/>
                <a:cs typeface="Arial MT"/>
              </a:rPr>
              <a:t>2,500</a:t>
            </a:r>
            <a:r>
              <a:rPr sz="3350" spc="215" dirty="0">
                <a:solidFill>
                  <a:srgbClr val="DBF99E"/>
                </a:solidFill>
                <a:latin typeface="Arial MT"/>
                <a:cs typeface="Arial MT"/>
              </a:rPr>
              <a:t> </a:t>
            </a:r>
            <a:r>
              <a:rPr sz="3350" spc="114" dirty="0">
                <a:solidFill>
                  <a:srgbClr val="E2F6AF"/>
                </a:solidFill>
                <a:latin typeface="Arial MT"/>
                <a:cs typeface="Arial MT"/>
              </a:rPr>
              <a:t>Images</a:t>
            </a:r>
            <a:endParaRPr sz="335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04302" y="5616709"/>
            <a:ext cx="2271395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DFF9AA"/>
                </a:solidFill>
                <a:latin typeface="Arial MT"/>
                <a:cs typeface="Arial MT"/>
              </a:rPr>
              <a:t>25</a:t>
            </a:r>
            <a:r>
              <a:rPr sz="3350" spc="145" dirty="0">
                <a:solidFill>
                  <a:srgbClr val="DFF9AA"/>
                </a:solidFill>
                <a:latin typeface="Arial MT"/>
                <a:cs typeface="Arial MT"/>
              </a:rPr>
              <a:t> </a:t>
            </a:r>
            <a:r>
              <a:rPr sz="3350" spc="105" dirty="0">
                <a:solidFill>
                  <a:srgbClr val="E6FDAF"/>
                </a:solidFill>
                <a:latin typeface="Arial MT"/>
                <a:cs typeface="Arial MT"/>
              </a:rPr>
              <a:t>Classes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89628" y="5600348"/>
            <a:ext cx="2286635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100" dirty="0">
                <a:solidFill>
                  <a:srgbClr val="E1FB9A"/>
                </a:solidFill>
                <a:latin typeface="Arial MT"/>
                <a:cs typeface="Arial MT"/>
              </a:rPr>
              <a:t>Equal</a:t>
            </a:r>
            <a:r>
              <a:rPr sz="3450" spc="145" dirty="0">
                <a:solidFill>
                  <a:srgbClr val="E1FB9A"/>
                </a:solidFill>
                <a:latin typeface="Arial MT"/>
                <a:cs typeface="Arial MT"/>
              </a:rPr>
              <a:t> </a:t>
            </a:r>
            <a:r>
              <a:rPr sz="3450" spc="114" dirty="0">
                <a:solidFill>
                  <a:srgbClr val="D8F490"/>
                </a:solidFill>
                <a:latin typeface="Arial MT"/>
                <a:cs typeface="Arial MT"/>
              </a:rPr>
              <a:t>Split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06" y="6785133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09690" y="6705027"/>
            <a:ext cx="32359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DBFBDB"/>
                </a:solidFill>
                <a:latin typeface="Arial MT"/>
                <a:cs typeface="Arial MT"/>
              </a:rPr>
              <a:t>A</a:t>
            </a:r>
            <a:r>
              <a:rPr sz="2450" spc="-170" dirty="0">
                <a:solidFill>
                  <a:srgbClr val="DBFBD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curated</a:t>
            </a:r>
            <a:r>
              <a:rPr sz="2450" spc="5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subset</a:t>
            </a:r>
            <a:r>
              <a:rPr sz="2450" spc="5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807752"/>
                </a:solidFill>
                <a:latin typeface="Arial MT"/>
                <a:cs typeface="Arial MT"/>
              </a:rPr>
              <a:t>of</a:t>
            </a:r>
            <a:r>
              <a:rPr sz="2450" spc="-10" dirty="0">
                <a:solidFill>
                  <a:srgbClr val="807752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E6FFE2"/>
                </a:solidFill>
                <a:latin typeface="Arial MT"/>
                <a:cs typeface="Arial MT"/>
              </a:rPr>
              <a:t>the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08626" y="6705027"/>
            <a:ext cx="39211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F7F7F7"/>
                </a:solidFill>
                <a:latin typeface="Arial MT"/>
                <a:cs typeface="Arial MT"/>
              </a:rPr>
              <a:t>Diverse</a:t>
            </a:r>
            <a:r>
              <a:rPr sz="2450" spc="-15" dirty="0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9E9E9"/>
                </a:solidFill>
                <a:latin typeface="Arial MT"/>
                <a:cs typeface="Arial MT"/>
              </a:rPr>
              <a:t>categories</a:t>
            </a:r>
            <a:r>
              <a:rPr sz="2450" spc="-55" dirty="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E6E6E6"/>
                </a:solidFill>
                <a:latin typeface="Arial MT"/>
                <a:cs typeface="Arial MT"/>
              </a:rPr>
              <a:t>including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99987" y="6705027"/>
            <a:ext cx="407670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F0F0F0"/>
                </a:solidFill>
                <a:latin typeface="Arial MT"/>
                <a:cs typeface="Arial MT"/>
              </a:rPr>
              <a:t>Exactly</a:t>
            </a:r>
            <a:r>
              <a:rPr sz="2450" spc="-10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100</a:t>
            </a:r>
            <a:r>
              <a:rPr sz="2450" spc="-6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2E2E2"/>
                </a:solidFill>
                <a:latin typeface="Arial MT"/>
                <a:cs typeface="Arial MT"/>
              </a:rPr>
              <a:t>images</a:t>
            </a:r>
            <a:r>
              <a:rPr sz="2450" spc="70" dirty="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A3AC80"/>
                </a:solidFill>
                <a:latin typeface="Arial MT"/>
                <a:cs typeface="Arial MT"/>
              </a:rPr>
              <a:t>per</a:t>
            </a:r>
            <a:r>
              <a:rPr sz="2450" spc="30" dirty="0">
                <a:solidFill>
                  <a:srgbClr val="A3AC80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C4F0CF"/>
                </a:solidFill>
                <a:latin typeface="Arial MT"/>
                <a:cs typeface="Arial MT"/>
              </a:rPr>
              <a:t>class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706" y="7224910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12150" y="7144804"/>
            <a:ext cx="345821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10" dirty="0">
                <a:solidFill>
                  <a:srgbClr val="F4F4F4"/>
                </a:solidFill>
                <a:latin typeface="Arial MT"/>
                <a:cs typeface="Arial MT"/>
              </a:rPr>
              <a:t>industry-</a:t>
            </a:r>
            <a:r>
              <a:rPr sz="2450" dirty="0">
                <a:solidFill>
                  <a:srgbClr val="F4F4F4"/>
                </a:solidFill>
                <a:latin typeface="Arial MT"/>
                <a:cs typeface="Arial MT"/>
              </a:rPr>
              <a:t>standard </a:t>
            </a:r>
            <a:r>
              <a:rPr sz="2450" spc="-20" dirty="0">
                <a:solidFill>
                  <a:srgbClr val="E2E2E2"/>
                </a:solidFill>
                <a:latin typeface="Arial MT"/>
                <a:cs typeface="Arial MT"/>
              </a:rPr>
              <a:t>COCO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5102" y="7144804"/>
            <a:ext cx="422783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vehicles,</a:t>
            </a:r>
            <a:r>
              <a:rPr sz="2450" spc="1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4E4E4"/>
                </a:solidFill>
                <a:latin typeface="Arial MT"/>
                <a:cs typeface="Arial MT"/>
              </a:rPr>
              <a:t>animals,</a:t>
            </a:r>
            <a:r>
              <a:rPr sz="2450" spc="-25" dirty="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people,</a:t>
            </a:r>
            <a:r>
              <a:rPr sz="24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E8E8E8"/>
                </a:solidFill>
                <a:latin typeface="Arial MT"/>
                <a:cs typeface="Arial MT"/>
              </a:rPr>
              <a:t>and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805334" y="7144804"/>
            <a:ext cx="325755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EFEFEF"/>
                </a:solidFill>
                <a:latin typeface="Arial MT"/>
                <a:cs typeface="Arial MT"/>
              </a:rPr>
              <a:t>ensures</a:t>
            </a:r>
            <a:r>
              <a:rPr sz="2450" spc="35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2FFF4"/>
                </a:solidFill>
                <a:latin typeface="Arial MT"/>
                <a:cs typeface="Arial MT"/>
              </a:rPr>
              <a:t>no</a:t>
            </a:r>
            <a:r>
              <a:rPr sz="2450" spc="-50" dirty="0">
                <a:solidFill>
                  <a:srgbClr val="E2FFF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bias</a:t>
            </a:r>
            <a:r>
              <a:rPr sz="2450" spc="-2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6F6F6"/>
                </a:solidFill>
                <a:latin typeface="Arial MT"/>
                <a:cs typeface="Arial MT"/>
              </a:rPr>
              <a:t>toward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706" y="7664687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814312" y="7584582"/>
            <a:ext cx="404495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dataset</a:t>
            </a:r>
            <a:r>
              <a:rPr sz="2450" spc="-1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for</a:t>
            </a:r>
            <a:r>
              <a:rPr sz="2450" spc="1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7F7F7"/>
                </a:solidFill>
                <a:latin typeface="Arial MT"/>
                <a:cs typeface="Arial MT"/>
              </a:rPr>
              <a:t>balanced</a:t>
            </a:r>
            <a:r>
              <a:rPr sz="2450" spc="15" dirty="0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EFEFEF"/>
                </a:solidFill>
                <a:latin typeface="Arial MT"/>
                <a:cs typeface="Arial MT"/>
              </a:rPr>
              <a:t>training.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04115" y="7584582"/>
            <a:ext cx="181102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indoor</a:t>
            </a:r>
            <a:r>
              <a:rPr sz="2450" spc="-1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E9E9E9"/>
                </a:solidFill>
                <a:latin typeface="Arial MT"/>
                <a:cs typeface="Arial MT"/>
              </a:rPr>
              <a:t>items.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98243" y="7584582"/>
            <a:ext cx="290893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dominant</a:t>
            </a:r>
            <a:r>
              <a:rPr sz="2450" spc="-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6F6F6"/>
                </a:solidFill>
                <a:latin typeface="Arial MT"/>
                <a:cs typeface="Arial MT"/>
              </a:rPr>
              <a:t>categories.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6" name="Graphic 25" descr="Database outline">
            <a:extLst>
              <a:ext uri="{FF2B5EF4-FFF2-40B4-BE49-F238E27FC236}">
                <a16:creationId xmlns:a16="http://schemas.microsoft.com/office/drawing/2014/main" id="{78A51D57-34A7-1E52-B52A-7F52DD5E19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3850" y="3029883"/>
            <a:ext cx="1066800" cy="914400"/>
          </a:xfrm>
          <a:prstGeom prst="rect">
            <a:avLst/>
          </a:prstGeom>
        </p:spPr>
      </p:pic>
      <p:pic>
        <p:nvPicPr>
          <p:cNvPr id="28" name="Graphic 27" descr="Label with solid fill">
            <a:extLst>
              <a:ext uri="{FF2B5EF4-FFF2-40B4-BE49-F238E27FC236}">
                <a16:creationId xmlns:a16="http://schemas.microsoft.com/office/drawing/2014/main" id="{D1DE0D84-6855-8403-B52C-2EA77F5C4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3650" y="2850793"/>
            <a:ext cx="914400" cy="914400"/>
          </a:xfrm>
          <a:prstGeom prst="rect">
            <a:avLst/>
          </a:prstGeom>
        </p:spPr>
      </p:pic>
      <p:pic>
        <p:nvPicPr>
          <p:cNvPr id="30" name="Graphic 29" descr="Scales of justice with solid fill">
            <a:extLst>
              <a:ext uri="{FF2B5EF4-FFF2-40B4-BE49-F238E27FC236}">
                <a16:creationId xmlns:a16="http://schemas.microsoft.com/office/drawing/2014/main" id="{AD1B1F7B-94AA-04D8-A73D-1A851B9EC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44979" y="2917877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1083736"/>
            <a:ext cx="20080605" cy="824865"/>
          </a:xfrm>
          <a:custGeom>
            <a:avLst/>
            <a:gdLst/>
            <a:ahLst/>
            <a:cxnLst/>
            <a:rect l="l" t="t" r="r" b="b"/>
            <a:pathLst>
              <a:path w="20080605" h="824864">
                <a:moveTo>
                  <a:pt x="20080541" y="824582"/>
                </a:moveTo>
                <a:lnTo>
                  <a:pt x="0" y="82458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245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68663" y="815809"/>
            <a:ext cx="11063605" cy="1085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950" spc="-10" dirty="0"/>
              <a:t>Advanced</a:t>
            </a:r>
            <a:r>
              <a:rPr sz="6950" spc="-475" dirty="0"/>
              <a:t> </a:t>
            </a:r>
            <a:r>
              <a:rPr sz="6950" dirty="0"/>
              <a:t>Technology</a:t>
            </a:r>
            <a:r>
              <a:rPr sz="6950" spc="-385" dirty="0"/>
              <a:t> </a:t>
            </a:r>
            <a:r>
              <a:rPr sz="6950" spc="-35" dirty="0"/>
              <a:t>Stack</a:t>
            </a:r>
            <a:endParaRPr sz="6950"/>
          </a:p>
        </p:txBody>
      </p:sp>
      <p:grpSp>
        <p:nvGrpSpPr>
          <p:cNvPr id="4" name="object 4"/>
          <p:cNvGrpSpPr/>
          <p:nvPr/>
        </p:nvGrpSpPr>
        <p:grpSpPr>
          <a:xfrm>
            <a:off x="15706" y="4743311"/>
            <a:ext cx="20088860" cy="659765"/>
            <a:chOff x="15706" y="4743311"/>
            <a:chExt cx="20088860" cy="6597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58278" y="4743311"/>
              <a:ext cx="5371564" cy="6596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9908" y="4743311"/>
              <a:ext cx="5151675" cy="65966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4743311"/>
              <a:ext cx="20088393" cy="65966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5706" y="5905579"/>
            <a:ext cx="20080605" cy="447675"/>
          </a:xfrm>
          <a:custGeom>
            <a:avLst/>
            <a:gdLst/>
            <a:ahLst/>
            <a:cxnLst/>
            <a:rect l="l" t="t" r="r" b="b"/>
            <a:pathLst>
              <a:path w="20080605" h="447675">
                <a:moveTo>
                  <a:pt x="20080541" y="447630"/>
                </a:moveTo>
                <a:lnTo>
                  <a:pt x="0" y="44763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476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40370" y="5772464"/>
            <a:ext cx="151638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04" dirty="0">
                <a:solidFill>
                  <a:srgbClr val="E2FFA5"/>
                </a:solidFill>
                <a:latin typeface="Calibri"/>
                <a:cs typeface="Calibri"/>
              </a:rPr>
              <a:t>Python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44415" y="5772464"/>
            <a:ext cx="110109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65" dirty="0">
                <a:solidFill>
                  <a:srgbClr val="D6F99A"/>
                </a:solidFill>
                <a:latin typeface="Calibri"/>
                <a:cs typeface="Calibri"/>
              </a:rPr>
              <a:t>Deep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25970" y="5772464"/>
            <a:ext cx="211582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85" dirty="0">
                <a:solidFill>
                  <a:srgbClr val="DFFFA5"/>
                </a:solidFill>
                <a:latin typeface="Calibri"/>
                <a:cs typeface="Calibri"/>
              </a:rPr>
              <a:t>Front-</a:t>
            </a:r>
            <a:r>
              <a:rPr sz="3600" spc="210" dirty="0">
                <a:solidFill>
                  <a:srgbClr val="DFFFA5"/>
                </a:solidFill>
                <a:latin typeface="Calibri"/>
                <a:cs typeface="Calibri"/>
              </a:rPr>
              <a:t>End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58826" y="5772464"/>
            <a:ext cx="125793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35" dirty="0">
                <a:solidFill>
                  <a:srgbClr val="E4FDA1"/>
                </a:solidFill>
                <a:latin typeface="Calibri"/>
                <a:cs typeface="Calibri"/>
              </a:rPr>
              <a:t>Cloud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06" y="6423888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4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57873" y="6291427"/>
            <a:ext cx="1864995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114" dirty="0">
                <a:solidFill>
                  <a:srgbClr val="DBFB93"/>
                </a:solidFill>
                <a:latin typeface="Arial MT"/>
                <a:cs typeface="Arial MT"/>
              </a:rPr>
              <a:t>Learning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706" y="6973609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65190" y="6893503"/>
            <a:ext cx="28924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145" dirty="0">
                <a:solidFill>
                  <a:srgbClr val="E1E1E1"/>
                </a:solidFill>
                <a:latin typeface="Calibri"/>
                <a:cs typeface="Calibri"/>
              </a:rPr>
              <a:t>Core</a:t>
            </a:r>
            <a:r>
              <a:rPr sz="2450" spc="130" dirty="0">
                <a:solidFill>
                  <a:srgbClr val="E1E1E1"/>
                </a:solidFill>
                <a:latin typeface="Calibri"/>
                <a:cs typeface="Calibri"/>
              </a:rPr>
              <a:t> </a:t>
            </a:r>
            <a:r>
              <a:rPr sz="2450" spc="55" dirty="0">
                <a:solidFill>
                  <a:srgbClr val="F2F2F2"/>
                </a:solidFill>
                <a:latin typeface="Calibri"/>
                <a:cs typeface="Calibri"/>
              </a:rPr>
              <a:t>development</a:t>
            </a:r>
            <a:r>
              <a:rPr sz="2450" spc="33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E4FFDD"/>
                </a:solidFill>
                <a:latin typeface="Calibri"/>
                <a:cs typeface="Calibri"/>
              </a:rPr>
              <a:t>&amp;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57822" y="6893503"/>
            <a:ext cx="285559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EFEFEF"/>
                </a:solidFill>
                <a:latin typeface="Arial MT"/>
                <a:cs typeface="Arial MT"/>
              </a:rPr>
              <a:t>Streamlit</a:t>
            </a:r>
            <a:r>
              <a:rPr sz="2450" spc="-30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4F4F4"/>
                </a:solidFill>
                <a:latin typeface="Arial MT"/>
                <a:cs typeface="Arial MT"/>
              </a:rPr>
              <a:t>Dashboard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10090" y="6893503"/>
            <a:ext cx="19653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EBEBEB"/>
                </a:solidFill>
                <a:latin typeface="Arial MT"/>
                <a:cs typeface="Arial MT"/>
              </a:rPr>
              <a:t>Hugging</a:t>
            </a:r>
            <a:r>
              <a:rPr sz="2450" spc="-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F6F6F6"/>
                </a:solidFill>
                <a:latin typeface="Arial MT"/>
                <a:cs typeface="Arial MT"/>
              </a:rPr>
              <a:t>Face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706" y="7413387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09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925172" y="7333280"/>
            <a:ext cx="75374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25" dirty="0">
                <a:solidFill>
                  <a:srgbClr val="DADADA"/>
                </a:solidFill>
                <a:latin typeface="Arial MT"/>
                <a:cs typeface="Arial MT"/>
              </a:rPr>
              <a:t>Logic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95886" y="7379744"/>
            <a:ext cx="25908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75" dirty="0">
                <a:solidFill>
                  <a:srgbClr val="FFFFFF"/>
                </a:solidFill>
                <a:latin typeface="Arial MT"/>
                <a:cs typeface="Arial MT"/>
              </a:rPr>
              <a:t>PyTorch</a:t>
            </a:r>
            <a:r>
              <a:rPr sz="25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4E4E4"/>
                </a:solidFill>
                <a:latin typeface="Arial MT"/>
                <a:cs typeface="Arial MT"/>
              </a:rPr>
              <a:t>/</a:t>
            </a:r>
            <a:r>
              <a:rPr sz="2550" spc="-130" dirty="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sz="2550" spc="-90" dirty="0">
                <a:solidFill>
                  <a:srgbClr val="F7F7F7"/>
                </a:solidFill>
                <a:latin typeface="Arial MT"/>
                <a:cs typeface="Arial MT"/>
              </a:rPr>
              <a:t>YOLOv8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260799" y="7333280"/>
            <a:ext cx="105219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10" dirty="0">
                <a:solidFill>
                  <a:srgbClr val="E4E4E4"/>
                </a:solidFill>
                <a:latin typeface="Arial MT"/>
                <a:cs typeface="Arial MT"/>
              </a:rPr>
              <a:t>Spaces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1083736"/>
            <a:ext cx="20080605" cy="824865"/>
          </a:xfrm>
          <a:custGeom>
            <a:avLst/>
            <a:gdLst/>
            <a:ahLst/>
            <a:cxnLst/>
            <a:rect l="l" t="t" r="r" b="b"/>
            <a:pathLst>
              <a:path w="20080605" h="824864">
                <a:moveTo>
                  <a:pt x="20080541" y="824582"/>
                </a:moveTo>
                <a:lnTo>
                  <a:pt x="0" y="82458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245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35"/>
              </a:spcBef>
            </a:pPr>
            <a:r>
              <a:rPr sz="7050" spc="-105" dirty="0"/>
              <a:t>Transfer</a:t>
            </a:r>
            <a:r>
              <a:rPr sz="7050" spc="-355" dirty="0"/>
              <a:t> </a:t>
            </a:r>
            <a:r>
              <a:rPr sz="7050" spc="-50" dirty="0"/>
              <a:t>Learning</a:t>
            </a:r>
            <a:r>
              <a:rPr sz="7050" spc="-445" dirty="0"/>
              <a:t> </a:t>
            </a:r>
            <a:r>
              <a:rPr sz="7050" spc="-10" dirty="0"/>
              <a:t>Implementation</a:t>
            </a:r>
            <a:endParaRPr sz="7050"/>
          </a:p>
        </p:txBody>
      </p:sp>
      <p:sp>
        <p:nvSpPr>
          <p:cNvPr id="7" name="object 7"/>
          <p:cNvSpPr/>
          <p:nvPr/>
        </p:nvSpPr>
        <p:spPr>
          <a:xfrm>
            <a:off x="15706" y="4130764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706" y="5198794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706" y="5638571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706" y="6879371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706" y="7319148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706" y="7758926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706" y="8198703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04019" y="4014010"/>
            <a:ext cx="6540500" cy="45034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305" dirty="0">
                <a:solidFill>
                  <a:srgbClr val="E4FF9A"/>
                </a:solidFill>
                <a:latin typeface="Calibri"/>
                <a:cs typeface="Calibri"/>
              </a:rPr>
              <a:t>Classification</a:t>
            </a:r>
            <a:r>
              <a:rPr sz="3450" spc="80" dirty="0">
                <a:solidFill>
                  <a:srgbClr val="E4FF9A"/>
                </a:solidFill>
                <a:latin typeface="Calibri"/>
                <a:cs typeface="Calibri"/>
              </a:rPr>
              <a:t> </a:t>
            </a:r>
            <a:r>
              <a:rPr sz="3450" spc="415" dirty="0">
                <a:solidFill>
                  <a:srgbClr val="EBFFB5"/>
                </a:solidFill>
                <a:latin typeface="Calibri"/>
                <a:cs typeface="Calibri"/>
              </a:rPr>
              <a:t>Base</a:t>
            </a:r>
            <a:endParaRPr sz="3450">
              <a:latin typeface="Calibri"/>
              <a:cs typeface="Calibri"/>
            </a:endParaRPr>
          </a:p>
          <a:p>
            <a:pPr marL="20955" marR="467359">
              <a:lnSpc>
                <a:spcPct val="117800"/>
              </a:lnSpc>
              <a:spcBef>
                <a:spcPts val="4004"/>
              </a:spcBef>
            </a:pP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We</a:t>
            </a:r>
            <a:r>
              <a:rPr sz="2450" spc="-7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2F2F2"/>
                </a:solidFill>
                <a:latin typeface="Arial MT"/>
                <a:cs typeface="Arial MT"/>
              </a:rPr>
              <a:t>leverage</a:t>
            </a:r>
            <a:r>
              <a:rPr sz="2450" spc="1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6E7052"/>
                </a:solidFill>
                <a:latin typeface="Arial MT"/>
                <a:cs typeface="Arial MT"/>
              </a:rPr>
              <a:t>4</a:t>
            </a:r>
            <a:r>
              <a:rPr sz="2450" spc="-160" dirty="0">
                <a:solidFill>
                  <a:srgbClr val="6E705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foundational</a:t>
            </a:r>
            <a:r>
              <a:rPr sz="2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2F2F2"/>
                </a:solidFill>
                <a:latin typeface="Arial MT"/>
                <a:cs typeface="Arial MT"/>
              </a:rPr>
              <a:t>architectures</a:t>
            </a:r>
            <a:r>
              <a:rPr sz="2450" spc="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EDEDED"/>
                </a:solidFill>
                <a:latin typeface="Arial MT"/>
                <a:cs typeface="Arial MT"/>
              </a:rPr>
              <a:t>to </a:t>
            </a:r>
            <a:r>
              <a:rPr sz="2450" dirty="0">
                <a:solidFill>
                  <a:srgbClr val="F9F9F9"/>
                </a:solidFill>
                <a:latin typeface="Arial MT"/>
                <a:cs typeface="Arial MT"/>
              </a:rPr>
              <a:t>compare</a:t>
            </a:r>
            <a:r>
              <a:rPr sz="2450" spc="-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feature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0F0F0"/>
                </a:solidFill>
                <a:latin typeface="Arial MT"/>
                <a:cs typeface="Arial MT"/>
              </a:rPr>
              <a:t>extraction</a:t>
            </a:r>
            <a:r>
              <a:rPr sz="2450" spc="55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6F6F6"/>
                </a:solidFill>
                <a:latin typeface="Arial MT"/>
                <a:cs typeface="Arial MT"/>
              </a:rPr>
              <a:t>quality: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450">
              <a:latin typeface="Arial MT"/>
              <a:cs typeface="Arial MT"/>
            </a:endParaRPr>
          </a:p>
          <a:p>
            <a:pPr marL="647065" indent="-313055">
              <a:lnSpc>
                <a:spcPct val="100000"/>
              </a:lnSpc>
              <a:buClr>
                <a:srgbClr val="E2FFE8"/>
              </a:buClr>
              <a:buChar char="•"/>
              <a:tabLst>
                <a:tab pos="647065" algn="l"/>
              </a:tabLst>
            </a:pPr>
            <a:r>
              <a:rPr sz="2450" spc="210" dirty="0">
                <a:solidFill>
                  <a:srgbClr val="EBF9DD"/>
                </a:solidFill>
                <a:latin typeface="Calibri"/>
                <a:cs typeface="Calibri"/>
              </a:rPr>
              <a:t>VGG16:</a:t>
            </a:r>
            <a:r>
              <a:rPr sz="2450" spc="285" dirty="0">
                <a:solidFill>
                  <a:srgbClr val="EBF9DD"/>
                </a:solidFill>
                <a:latin typeface="Calibri"/>
                <a:cs typeface="Calibri"/>
              </a:rPr>
              <a:t> </a:t>
            </a:r>
            <a:r>
              <a:rPr sz="2450" spc="75" dirty="0">
                <a:solidFill>
                  <a:srgbClr val="F0F0F0"/>
                </a:solidFill>
                <a:latin typeface="Calibri"/>
                <a:cs typeface="Calibri"/>
              </a:rPr>
              <a:t>Depth-</a:t>
            </a:r>
            <a:r>
              <a:rPr sz="2450" spc="70" dirty="0">
                <a:solidFill>
                  <a:srgbClr val="F0F0F0"/>
                </a:solidFill>
                <a:latin typeface="Calibri"/>
                <a:cs typeface="Calibri"/>
              </a:rPr>
              <a:t>focused</a:t>
            </a:r>
            <a:r>
              <a:rPr sz="2450" spc="409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E8E8E8"/>
                </a:solidFill>
                <a:latin typeface="Calibri"/>
                <a:cs typeface="Calibri"/>
              </a:rPr>
              <a:t>features.</a:t>
            </a:r>
            <a:endParaRPr sz="2450">
              <a:latin typeface="Calibri"/>
              <a:cs typeface="Calibri"/>
            </a:endParaRPr>
          </a:p>
          <a:p>
            <a:pPr marL="642620" indent="-295910">
              <a:lnSpc>
                <a:spcPct val="100000"/>
              </a:lnSpc>
              <a:spcBef>
                <a:spcPts val="525"/>
              </a:spcBef>
              <a:buClr>
                <a:srgbClr val="E2FFE9"/>
              </a:buClr>
              <a:buChar char="•"/>
              <a:tabLst>
                <a:tab pos="642620" algn="l"/>
              </a:tabLst>
            </a:pPr>
            <a:r>
              <a:rPr sz="2450" dirty="0">
                <a:solidFill>
                  <a:srgbClr val="EDEDED"/>
                </a:solidFill>
                <a:latin typeface="Arial MT"/>
                <a:cs typeface="Arial MT"/>
              </a:rPr>
              <a:t>ResNet50:</a:t>
            </a:r>
            <a:r>
              <a:rPr sz="2450" spc="15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FEFEF"/>
                </a:solidFill>
                <a:latin typeface="Arial MT"/>
                <a:cs typeface="Arial MT"/>
              </a:rPr>
              <a:t>Residual</a:t>
            </a:r>
            <a:r>
              <a:rPr sz="2450" spc="125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connection</a:t>
            </a:r>
            <a:r>
              <a:rPr sz="2450" spc="10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0F0F0"/>
                </a:solidFill>
                <a:latin typeface="Arial MT"/>
                <a:cs typeface="Arial MT"/>
              </a:rPr>
              <a:t>efficiency.</a:t>
            </a:r>
            <a:endParaRPr sz="2450">
              <a:latin typeface="Arial MT"/>
              <a:cs typeface="Arial MT"/>
            </a:endParaRPr>
          </a:p>
          <a:p>
            <a:pPr marL="641985" indent="-307975">
              <a:lnSpc>
                <a:spcPct val="100000"/>
              </a:lnSpc>
              <a:spcBef>
                <a:spcPts val="520"/>
              </a:spcBef>
              <a:buClr>
                <a:srgbClr val="E2FFE8"/>
              </a:buClr>
              <a:buChar char="•"/>
              <a:tabLst>
                <a:tab pos="641985" algn="l"/>
              </a:tabLst>
            </a:pPr>
            <a:r>
              <a:rPr sz="2450" spc="110" dirty="0">
                <a:solidFill>
                  <a:srgbClr val="F2FFDB"/>
                </a:solidFill>
                <a:latin typeface="Calibri"/>
                <a:cs typeface="Calibri"/>
              </a:rPr>
              <a:t>MobileNetV2:</a:t>
            </a:r>
            <a:r>
              <a:rPr sz="2450" spc="360" dirty="0">
                <a:solidFill>
                  <a:srgbClr val="F2FFDB"/>
                </a:solidFill>
                <a:latin typeface="Calibri"/>
                <a:cs typeface="Calibri"/>
              </a:rPr>
              <a:t> </a:t>
            </a:r>
            <a:r>
              <a:rPr sz="2450" spc="60" dirty="0">
                <a:solidFill>
                  <a:srgbClr val="E4E4E4"/>
                </a:solidFill>
                <a:latin typeface="Calibri"/>
                <a:cs typeface="Calibri"/>
              </a:rPr>
              <a:t>Optimized</a:t>
            </a:r>
            <a:r>
              <a:rPr sz="2450" spc="285" dirty="0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9F9F9"/>
                </a:solidFill>
                <a:latin typeface="Calibri"/>
                <a:cs typeface="Calibri"/>
              </a:rPr>
              <a:t>for</a:t>
            </a:r>
            <a:r>
              <a:rPr sz="2450" spc="185" dirty="0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sz="2450" spc="95" dirty="0">
                <a:solidFill>
                  <a:srgbClr val="E9E9E9"/>
                </a:solidFill>
                <a:latin typeface="Calibri"/>
                <a:cs typeface="Calibri"/>
              </a:rPr>
              <a:t>speed.</a:t>
            </a:r>
            <a:endParaRPr sz="2450">
              <a:latin typeface="Calibri"/>
              <a:cs typeface="Calibri"/>
            </a:endParaRPr>
          </a:p>
          <a:p>
            <a:pPr marL="643255" indent="-296545">
              <a:lnSpc>
                <a:spcPct val="100000"/>
              </a:lnSpc>
              <a:spcBef>
                <a:spcPts val="525"/>
              </a:spcBef>
              <a:buClr>
                <a:srgbClr val="E2FFE9"/>
              </a:buClr>
              <a:buChar char="•"/>
              <a:tabLst>
                <a:tab pos="643255" algn="l"/>
              </a:tabLst>
            </a:pPr>
            <a:r>
              <a:rPr sz="2450" spc="50" dirty="0">
                <a:solidFill>
                  <a:srgbClr val="EDEDED"/>
                </a:solidFill>
                <a:latin typeface="Arial MT"/>
                <a:cs typeface="Arial MT"/>
              </a:rPr>
              <a:t>EfficientNetBO:</a:t>
            </a:r>
            <a:r>
              <a:rPr sz="2450" spc="-17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Advanced</a:t>
            </a:r>
            <a:r>
              <a:rPr sz="2450" spc="4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DEDED"/>
                </a:solidFill>
                <a:latin typeface="Arial MT"/>
                <a:cs typeface="Arial MT"/>
              </a:rPr>
              <a:t>scaling</a:t>
            </a:r>
            <a:r>
              <a:rPr sz="2450" spc="1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EBEBEB"/>
                </a:solidFill>
                <a:latin typeface="Arial MT"/>
                <a:cs typeface="Arial MT"/>
              </a:rPr>
              <a:t>logic.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72A88A-2AB0-068C-8DF6-230C53741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450" y="1908601"/>
            <a:ext cx="9001125" cy="9001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229684" y="1162657"/>
            <a:ext cx="7155180" cy="2033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ts val="7605"/>
              </a:lnSpc>
              <a:spcBef>
                <a:spcPts val="95"/>
              </a:spcBef>
            </a:pPr>
            <a:r>
              <a:rPr sz="6700" spc="434" dirty="0">
                <a:solidFill>
                  <a:srgbClr val="FFFFFF"/>
                </a:solidFill>
                <a:latin typeface="Calibri"/>
                <a:cs typeface="Calibri"/>
              </a:rPr>
              <a:t>Precision</a:t>
            </a:r>
            <a:r>
              <a:rPr sz="6700" spc="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700" spc="620" dirty="0">
                <a:solidFill>
                  <a:srgbClr val="FFFFFF"/>
                </a:solidFill>
                <a:latin typeface="Calibri"/>
                <a:cs typeface="Calibri"/>
              </a:rPr>
              <a:t>YOLOv8</a:t>
            </a:r>
            <a:endParaRPr sz="6700" dirty="0">
              <a:latin typeface="Calibri"/>
              <a:cs typeface="Calibri"/>
            </a:endParaRPr>
          </a:p>
          <a:p>
            <a:pPr marL="12700">
              <a:lnSpc>
                <a:spcPts val="8205"/>
              </a:lnSpc>
            </a:pPr>
            <a:r>
              <a:rPr sz="7200" spc="-10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endParaRPr sz="7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5242" y="4062437"/>
            <a:ext cx="7637780" cy="905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">
              <a:lnSpc>
                <a:spcPct val="117800"/>
              </a:lnSpc>
              <a:spcBef>
                <a:spcPts val="100"/>
              </a:spcBef>
            </a:pPr>
            <a:r>
              <a:rPr sz="2450" spc="-10" dirty="0">
                <a:solidFill>
                  <a:srgbClr val="EBEBEB"/>
                </a:solidFill>
                <a:latin typeface="Arial MT"/>
                <a:cs typeface="Arial MT"/>
              </a:rPr>
              <a:t>Detection</a:t>
            </a:r>
            <a:r>
              <a:rPr sz="2450" spc="130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goes</a:t>
            </a:r>
            <a:r>
              <a:rPr sz="2450" spc="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beyond</a:t>
            </a:r>
            <a:r>
              <a:rPr sz="24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"what"</a:t>
            </a:r>
            <a:r>
              <a:rPr sz="2450" spc="1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C3D8AF"/>
                </a:solidFill>
                <a:latin typeface="Arial MT"/>
                <a:cs typeface="Arial MT"/>
              </a:rPr>
              <a:t>is</a:t>
            </a:r>
            <a:r>
              <a:rPr sz="2450" spc="-45" dirty="0">
                <a:solidFill>
                  <a:srgbClr val="C3D8A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90A57E"/>
                </a:solidFill>
                <a:latin typeface="Arial MT"/>
                <a:cs typeface="Arial MT"/>
              </a:rPr>
              <a:t>in</a:t>
            </a:r>
            <a:r>
              <a:rPr sz="2450" spc="-50" dirty="0">
                <a:solidFill>
                  <a:srgbClr val="90A57E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an</a:t>
            </a:r>
            <a:r>
              <a:rPr sz="2450" spc="-5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898E77"/>
                </a:solidFill>
                <a:latin typeface="Arial MT"/>
                <a:cs typeface="Arial MT"/>
              </a:rPr>
              <a:t>image</a:t>
            </a:r>
            <a:r>
              <a:rPr sz="2450" spc="45" dirty="0">
                <a:solidFill>
                  <a:srgbClr val="898E77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BEBEB"/>
                </a:solidFill>
                <a:latin typeface="Arial MT"/>
                <a:cs typeface="Arial MT"/>
              </a:rPr>
              <a:t>to</a:t>
            </a:r>
            <a:r>
              <a:rPr sz="2450" spc="-4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6F6F6"/>
                </a:solidFill>
                <a:latin typeface="Arial MT"/>
                <a:cs typeface="Arial MT"/>
              </a:rPr>
              <a:t>exactly </a:t>
            </a:r>
            <a:r>
              <a:rPr sz="2450" dirty="0">
                <a:solidFill>
                  <a:srgbClr val="EDEDED"/>
                </a:solidFill>
                <a:latin typeface="Arial MT"/>
                <a:cs typeface="Arial MT"/>
              </a:rPr>
              <a:t>"where"</a:t>
            </a:r>
            <a:r>
              <a:rPr sz="2450" spc="6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0F0F0"/>
                </a:solidFill>
                <a:latin typeface="Arial MT"/>
                <a:cs typeface="Arial MT"/>
              </a:rPr>
              <a:t>it</a:t>
            </a:r>
            <a:r>
              <a:rPr sz="2450" spc="-15" dirty="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6E6E6"/>
                </a:solidFill>
                <a:latin typeface="Arial MT"/>
                <a:cs typeface="Arial MT"/>
              </a:rPr>
              <a:t>is</a:t>
            </a:r>
            <a:r>
              <a:rPr sz="2450" spc="-5" dirty="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EDEDED"/>
                </a:solidFill>
                <a:latin typeface="Arial MT"/>
                <a:cs typeface="Arial MT"/>
              </a:rPr>
              <a:t>located.</a:t>
            </a:r>
            <a:endParaRPr sz="2450" dirty="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46226" y="9186627"/>
            <a:ext cx="7198359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D8E8BF"/>
                </a:solidFill>
                <a:latin typeface="Arial MT"/>
                <a:cs typeface="Arial MT"/>
              </a:rPr>
              <a:t>Ideal</a:t>
            </a:r>
            <a:r>
              <a:rPr sz="2450" spc="-40" dirty="0">
                <a:solidFill>
                  <a:srgbClr val="D8E8B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A19C82"/>
                </a:solidFill>
                <a:latin typeface="Arial MT"/>
                <a:cs typeface="Arial MT"/>
              </a:rPr>
              <a:t>for</a:t>
            </a:r>
            <a:r>
              <a:rPr sz="2450" spc="-5" dirty="0">
                <a:solidFill>
                  <a:srgbClr val="A19C82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DFDFDF"/>
                </a:solidFill>
                <a:latin typeface="Arial MT"/>
                <a:cs typeface="Arial MT"/>
              </a:rPr>
              <a:t>traffic</a:t>
            </a:r>
            <a:r>
              <a:rPr sz="2450" spc="60" dirty="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chemeClr val="accent3"/>
                </a:solidFill>
                <a:latin typeface="Arial MT"/>
                <a:cs typeface="Arial MT"/>
              </a:rPr>
              <a:t>management</a:t>
            </a:r>
            <a:r>
              <a:rPr sz="2450" spc="130" dirty="0">
                <a:solidFill>
                  <a:srgbClr val="1A2600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DEDED"/>
                </a:solidFill>
                <a:latin typeface="Arial MT"/>
                <a:cs typeface="Arial MT"/>
              </a:rPr>
              <a:t>and</a:t>
            </a:r>
            <a:r>
              <a:rPr sz="2450" spc="-60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450" spc="-30" dirty="0">
                <a:solidFill>
                  <a:srgbClr val="EFEFEF"/>
                </a:solidFill>
                <a:latin typeface="Arial MT"/>
                <a:cs typeface="Arial MT"/>
              </a:rPr>
              <a:t>high-</a:t>
            </a:r>
            <a:r>
              <a:rPr sz="2450" dirty="0">
                <a:solidFill>
                  <a:srgbClr val="EFEFEF"/>
                </a:solidFill>
                <a:latin typeface="Arial MT"/>
                <a:cs typeface="Arial MT"/>
              </a:rPr>
              <a:t>density</a:t>
            </a:r>
            <a:r>
              <a:rPr sz="2450" spc="90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chemeClr val="accent3"/>
                </a:solidFill>
                <a:latin typeface="Arial MT"/>
                <a:cs typeface="Arial MT"/>
              </a:rPr>
              <a:t>urban</a:t>
            </a:r>
            <a:endParaRPr sz="2450" dirty="0">
              <a:solidFill>
                <a:schemeClr val="accent3"/>
              </a:solidFill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5706" y="9706510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249948" y="9626404"/>
            <a:ext cx="171577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30" dirty="0">
                <a:solidFill>
                  <a:srgbClr val="EFEFEF"/>
                </a:solidFill>
                <a:latin typeface="Arial MT"/>
                <a:cs typeface="Arial MT"/>
              </a:rPr>
              <a:t>surveillance.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B00D539-0F4E-66AB-D239-A95677FD3808}"/>
              </a:ext>
            </a:extLst>
          </p:cNvPr>
          <p:cNvSpPr/>
          <p:nvPr/>
        </p:nvSpPr>
        <p:spPr>
          <a:xfrm>
            <a:off x="720732" y="5341716"/>
            <a:ext cx="8686800" cy="3473386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sz="2450" dirty="0">
                <a:solidFill>
                  <a:schemeClr val="accent3"/>
                </a:solidFill>
                <a:latin typeface="Arial MT"/>
                <a:cs typeface="Arial" panose="020B0604020202020204" pitchFamily="34" charset="0"/>
              </a:rPr>
              <a:t>Yolov8</a:t>
            </a:r>
            <a:r>
              <a:rPr lang="en-IN" sz="2450" dirty="0">
                <a:latin typeface="Arial MT"/>
                <a:cs typeface="Arial" panose="020B0604020202020204" pitchFamily="34" charset="0"/>
              </a:rPr>
              <a:t> provides multi-object localization with high </a:t>
            </a:r>
            <a:r>
              <a:rPr lang="en-IN" sz="2450" dirty="0" err="1">
                <a:latin typeface="Arial MT"/>
                <a:cs typeface="Arial" panose="020B0604020202020204" pitchFamily="34" charset="0"/>
              </a:rPr>
              <a:t>mAP</a:t>
            </a:r>
            <a:r>
              <a:rPr lang="en-IN" sz="2450" dirty="0">
                <a:latin typeface="Arial MT"/>
                <a:cs typeface="Arial" panose="020B0604020202020204" pitchFamily="34" charset="0"/>
              </a:rPr>
              <a:t> scored and bounding box coordinated in real-time.</a:t>
            </a:r>
            <a:endParaRPr lang="en-US" sz="2450" dirty="0">
              <a:latin typeface="Arial MT"/>
              <a:cs typeface="Arial" panose="020B060402020202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2FE2E70-159F-BD6F-D773-976D94DF6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343" y="152400"/>
            <a:ext cx="9933499" cy="11064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6973609"/>
            <a:ext cx="20088393" cy="8167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5952698"/>
            <a:ext cx="20088393" cy="8167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06" y="3910875"/>
            <a:ext cx="20088393" cy="81672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5706" y="1083736"/>
            <a:ext cx="20080605" cy="824865"/>
          </a:xfrm>
          <a:custGeom>
            <a:avLst/>
            <a:gdLst/>
            <a:ahLst/>
            <a:cxnLst/>
            <a:rect l="l" t="t" r="r" b="b"/>
            <a:pathLst>
              <a:path w="20080605" h="824864">
                <a:moveTo>
                  <a:pt x="20080541" y="824582"/>
                </a:moveTo>
                <a:lnTo>
                  <a:pt x="0" y="82458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245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41916" y="815809"/>
            <a:ext cx="12138660" cy="1085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950" dirty="0"/>
              <a:t>Benchmarking</a:t>
            </a:r>
            <a:r>
              <a:rPr sz="6950" spc="70" dirty="0"/>
              <a:t> </a:t>
            </a:r>
            <a:r>
              <a:rPr sz="6950" dirty="0"/>
              <a:t>Model</a:t>
            </a:r>
            <a:r>
              <a:rPr sz="6950" spc="-355" dirty="0"/>
              <a:t> </a:t>
            </a:r>
            <a:r>
              <a:rPr sz="6950" spc="-10" dirty="0"/>
              <a:t>Accuracy</a:t>
            </a:r>
            <a:endParaRPr sz="6950"/>
          </a:p>
        </p:txBody>
      </p:sp>
      <p:grpSp>
        <p:nvGrpSpPr>
          <p:cNvPr id="7" name="object 7"/>
          <p:cNvGrpSpPr/>
          <p:nvPr/>
        </p:nvGrpSpPr>
        <p:grpSpPr>
          <a:xfrm>
            <a:off x="15706" y="5033363"/>
            <a:ext cx="20088860" cy="817244"/>
            <a:chOff x="15706" y="4931786"/>
            <a:chExt cx="20088860" cy="817244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4931786"/>
              <a:ext cx="20088393" cy="81672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4931786"/>
              <a:ext cx="20088393" cy="816729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5706" y="8308647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44078" y="8195819"/>
            <a:ext cx="151701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i="1" spc="-110" dirty="0">
                <a:solidFill>
                  <a:srgbClr val="EFEFEF"/>
                </a:solidFill>
                <a:latin typeface="Arial"/>
                <a:cs typeface="Arial"/>
              </a:rPr>
              <a:t>EfficientNetB0</a:t>
            </a:r>
            <a:r>
              <a:rPr sz="2700" i="1" spc="-80" dirty="0">
                <a:solidFill>
                  <a:srgbClr val="EFEFEF"/>
                </a:solidFill>
                <a:latin typeface="Arial"/>
                <a:cs typeface="Arial"/>
              </a:rPr>
              <a:t> </a:t>
            </a:r>
            <a:r>
              <a:rPr sz="2700" spc="-105" dirty="0">
                <a:solidFill>
                  <a:srgbClr val="AFBD97"/>
                </a:solidFill>
                <a:latin typeface="Arial MT"/>
                <a:cs typeface="Arial MT"/>
              </a:rPr>
              <a:t>achieved</a:t>
            </a:r>
            <a:r>
              <a:rPr sz="2700" spc="-80" dirty="0">
                <a:solidFill>
                  <a:srgbClr val="AFBD97"/>
                </a:solidFill>
                <a:latin typeface="Arial MT"/>
                <a:cs typeface="Arial MT"/>
              </a:rPr>
              <a:t> </a:t>
            </a:r>
            <a:r>
              <a:rPr sz="2700" spc="-160" dirty="0">
                <a:solidFill>
                  <a:schemeClr val="accent3"/>
                </a:solidFill>
                <a:latin typeface="Arial MT"/>
                <a:cs typeface="Arial MT"/>
              </a:rPr>
              <a:t>fee</a:t>
            </a:r>
            <a:r>
              <a:rPr sz="2700" spc="-30" dirty="0">
                <a:solidFill>
                  <a:srgbClr val="424F21"/>
                </a:solidFill>
                <a:latin typeface="Arial MT"/>
                <a:cs typeface="Arial MT"/>
              </a:rPr>
              <a:t> </a:t>
            </a:r>
            <a:r>
              <a:rPr sz="2700" i="1" spc="-105" dirty="0">
                <a:solidFill>
                  <a:schemeClr val="accent3"/>
                </a:solidFill>
                <a:latin typeface="Arial"/>
                <a:cs typeface="Arial"/>
              </a:rPr>
              <a:t>highest</a:t>
            </a:r>
            <a:r>
              <a:rPr sz="2700" i="1" spc="-30" dirty="0">
                <a:solidFill>
                  <a:srgbClr val="232400"/>
                </a:solidFill>
                <a:latin typeface="Arial"/>
                <a:cs typeface="Arial"/>
              </a:rPr>
              <a:t> </a:t>
            </a:r>
            <a:r>
              <a:rPr sz="2700" spc="-155" dirty="0">
                <a:solidFill>
                  <a:srgbClr val="B3C39A"/>
                </a:solidFill>
                <a:latin typeface="Arial MT"/>
                <a:cs typeface="Arial MT"/>
              </a:rPr>
              <a:t>va//dation</a:t>
            </a:r>
            <a:r>
              <a:rPr sz="2700" spc="-35" dirty="0">
                <a:solidFill>
                  <a:srgbClr val="B3C39A"/>
                </a:solidFill>
                <a:latin typeface="Arial MT"/>
                <a:cs typeface="Arial MT"/>
              </a:rPr>
              <a:t> </a:t>
            </a:r>
            <a:r>
              <a:rPr sz="2700" spc="-120" dirty="0">
                <a:solidFill>
                  <a:srgbClr val="F9F9F9"/>
                </a:solidFill>
                <a:latin typeface="Arial MT"/>
                <a:cs typeface="Arial MT"/>
              </a:rPr>
              <a:t>accuracy</a:t>
            </a:r>
            <a:r>
              <a:rPr sz="2700" spc="-6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2700" i="1" spc="-105" dirty="0">
                <a:solidFill>
                  <a:srgbClr val="AFBC8E"/>
                </a:solidFill>
                <a:latin typeface="Arial"/>
                <a:cs typeface="Arial"/>
              </a:rPr>
              <a:t>while</a:t>
            </a:r>
            <a:r>
              <a:rPr sz="2700" i="1" spc="-30" dirty="0">
                <a:solidFill>
                  <a:srgbClr val="AFBC8E"/>
                </a:solidFill>
                <a:latin typeface="Arial"/>
                <a:cs typeface="Arial"/>
              </a:rPr>
              <a:t> </a:t>
            </a:r>
            <a:r>
              <a:rPr sz="2700" i="1" spc="-120" dirty="0">
                <a:solidFill>
                  <a:srgbClr val="F0F0F0"/>
                </a:solidFill>
                <a:latin typeface="Arial"/>
                <a:cs typeface="Arial"/>
              </a:rPr>
              <a:t>maintaining</a:t>
            </a:r>
            <a:r>
              <a:rPr lang="en-IN" sz="2700" i="1" spc="40" dirty="0">
                <a:solidFill>
                  <a:srgbClr val="F0F0F0"/>
                </a:solidFill>
                <a:latin typeface="Arial"/>
                <a:cs typeface="Arial"/>
              </a:rPr>
              <a:t> a</a:t>
            </a:r>
            <a:r>
              <a:rPr sz="2700" i="1" spc="-85" dirty="0">
                <a:solidFill>
                  <a:srgbClr val="242A00"/>
                </a:solidFill>
                <a:latin typeface="Arial"/>
                <a:cs typeface="Arial"/>
              </a:rPr>
              <a:t> </a:t>
            </a:r>
            <a:r>
              <a:rPr sz="2700" spc="-150" dirty="0">
                <a:solidFill>
                  <a:srgbClr val="A8BA82"/>
                </a:solidFill>
                <a:latin typeface="Arial MT"/>
                <a:cs typeface="Arial MT"/>
              </a:rPr>
              <a:t>6a/anced</a:t>
            </a:r>
            <a:r>
              <a:rPr sz="2700" spc="-60" dirty="0">
                <a:solidFill>
                  <a:srgbClr val="A8BA82"/>
                </a:solidFill>
                <a:latin typeface="Arial MT"/>
                <a:cs typeface="Arial MT"/>
              </a:rPr>
              <a:t> </a:t>
            </a:r>
            <a:r>
              <a:rPr sz="2700" i="1" spc="-125" dirty="0">
                <a:solidFill>
                  <a:srgbClr val="D4CD9E"/>
                </a:solidFill>
                <a:latin typeface="Arial"/>
                <a:cs typeface="Arial"/>
              </a:rPr>
              <a:t>computational</a:t>
            </a:r>
            <a:r>
              <a:rPr sz="2700" i="1" spc="180" dirty="0">
                <a:solidFill>
                  <a:srgbClr val="D4CD9E"/>
                </a:solidFill>
                <a:latin typeface="Arial"/>
                <a:cs typeface="Arial"/>
              </a:rPr>
              <a:t> </a:t>
            </a:r>
            <a:r>
              <a:rPr sz="2700" i="1" spc="-70" dirty="0">
                <a:solidFill>
                  <a:srgbClr val="F2F2F2"/>
                </a:solidFill>
                <a:latin typeface="Arial"/>
                <a:cs typeface="Arial"/>
              </a:rPr>
              <a:t>footprint.</a:t>
            </a:r>
            <a:endParaRPr sz="2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7918" y="4943566"/>
            <a:ext cx="17591405" cy="0"/>
          </a:xfrm>
          <a:custGeom>
            <a:avLst/>
            <a:gdLst/>
            <a:ahLst/>
            <a:cxnLst/>
            <a:rect l="l" t="t" r="r" b="b"/>
            <a:pathLst>
              <a:path w="17591405">
                <a:moveTo>
                  <a:pt x="0" y="0"/>
                </a:moveTo>
                <a:lnTo>
                  <a:pt x="17591088" y="0"/>
                </a:lnTo>
              </a:path>
            </a:pathLst>
          </a:custGeom>
          <a:ln w="23559">
            <a:solidFill>
              <a:srgbClr val="080C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06" y="1083736"/>
            <a:ext cx="20080605" cy="808990"/>
          </a:xfrm>
          <a:custGeom>
            <a:avLst/>
            <a:gdLst/>
            <a:ahLst/>
            <a:cxnLst/>
            <a:rect l="l" t="t" r="r" b="b"/>
            <a:pathLst>
              <a:path w="20080605" h="808989">
                <a:moveTo>
                  <a:pt x="20080541" y="808875"/>
                </a:moveTo>
                <a:lnTo>
                  <a:pt x="0" y="80887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08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sz="6950" spc="-45" dirty="0"/>
              <a:t>Core</a:t>
            </a:r>
            <a:r>
              <a:rPr sz="6950" spc="-265" dirty="0"/>
              <a:t> </a:t>
            </a:r>
            <a:r>
              <a:rPr sz="6950" dirty="0"/>
              <a:t>Application</a:t>
            </a:r>
            <a:r>
              <a:rPr sz="6950" spc="-60" dirty="0"/>
              <a:t> </a:t>
            </a:r>
            <a:r>
              <a:rPr sz="6950" spc="-75" dirty="0"/>
              <a:t>Feature</a:t>
            </a:r>
            <a:r>
              <a:rPr sz="6950" spc="-60" dirty="0"/>
              <a:t> </a:t>
            </a:r>
            <a:r>
              <a:rPr sz="6950" spc="-10" dirty="0"/>
              <a:t>Matrix</a:t>
            </a:r>
            <a:endParaRPr sz="6950"/>
          </a:p>
        </p:txBody>
      </p:sp>
      <p:sp>
        <p:nvSpPr>
          <p:cNvPr id="5" name="object 5"/>
          <p:cNvSpPr/>
          <p:nvPr/>
        </p:nvSpPr>
        <p:spPr>
          <a:xfrm>
            <a:off x="15706" y="4272121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5385" y="4192015"/>
            <a:ext cx="115760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150" dirty="0">
                <a:solidFill>
                  <a:srgbClr val="AAC462"/>
                </a:solidFill>
                <a:latin typeface="Calibri"/>
                <a:cs typeface="Calibri"/>
              </a:rPr>
              <a:t>Feature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31034" y="4142932"/>
            <a:ext cx="3246755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solidFill>
                  <a:srgbClr val="EDFBA8"/>
                </a:solidFill>
                <a:latin typeface="Times New Roman"/>
                <a:cs typeface="Times New Roman"/>
              </a:rPr>
              <a:t>Implementation</a:t>
            </a:r>
            <a:r>
              <a:rPr sz="2800" spc="530" dirty="0">
                <a:solidFill>
                  <a:srgbClr val="EDFBA8"/>
                </a:solidFill>
                <a:latin typeface="Times New Roman"/>
                <a:cs typeface="Times New Roman"/>
              </a:rPr>
              <a:t> </a:t>
            </a:r>
            <a:r>
              <a:rPr sz="2800" spc="-65" dirty="0">
                <a:solidFill>
                  <a:srgbClr val="E4FBA0"/>
                </a:solidFill>
                <a:latin typeface="Times New Roman"/>
                <a:cs typeface="Times New Roman"/>
              </a:rPr>
              <a:t>Detail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30960" y="4175654"/>
            <a:ext cx="188150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60" dirty="0">
                <a:solidFill>
                  <a:srgbClr val="E4F78E"/>
                </a:solidFill>
                <a:latin typeface="Calibri"/>
                <a:cs typeface="Calibri"/>
              </a:rPr>
              <a:t>User</a:t>
            </a:r>
            <a:r>
              <a:rPr sz="2550" spc="165" dirty="0">
                <a:solidFill>
                  <a:srgbClr val="E4F78E"/>
                </a:solidFill>
                <a:latin typeface="Calibri"/>
                <a:cs typeface="Calibri"/>
              </a:rPr>
              <a:t> </a:t>
            </a:r>
            <a:r>
              <a:rPr sz="2550" spc="110" dirty="0">
                <a:solidFill>
                  <a:srgbClr val="E4E689"/>
                </a:solidFill>
                <a:latin typeface="Calibri"/>
                <a:cs typeface="Calibri"/>
              </a:rPr>
              <a:t>Benefit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706" y="5371564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8421" y="5291458"/>
            <a:ext cx="310451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25" dirty="0">
                <a:solidFill>
                  <a:srgbClr val="F6F6F6"/>
                </a:solidFill>
                <a:latin typeface="Arial MT"/>
                <a:cs typeface="Arial MT"/>
              </a:rPr>
              <a:t>Multi-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Model</a:t>
            </a:r>
            <a:r>
              <a:rPr sz="2450" spc="114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7F7F7"/>
                </a:solidFill>
                <a:latin typeface="Arial MT"/>
                <a:cs typeface="Arial MT"/>
              </a:rPr>
              <a:t>Prediction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4514" y="5291458"/>
            <a:ext cx="494855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F7F7F7"/>
                </a:solidFill>
                <a:latin typeface="Arial MT"/>
                <a:cs typeface="Arial MT"/>
              </a:rPr>
              <a:t>Comparison</a:t>
            </a:r>
            <a:r>
              <a:rPr sz="2450" spc="100" dirty="0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of</a:t>
            </a:r>
            <a:r>
              <a:rPr sz="2450" spc="10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A3B16"/>
                </a:solidFill>
                <a:latin typeface="Arial MT"/>
                <a:cs typeface="Arial MT"/>
              </a:rPr>
              <a:t>4</a:t>
            </a:r>
            <a:r>
              <a:rPr sz="2450" spc="-145" dirty="0">
                <a:solidFill>
                  <a:srgbClr val="2A3B1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4E4E4"/>
                </a:solidFill>
                <a:latin typeface="Arial MT"/>
                <a:cs typeface="Arial MT"/>
              </a:rPr>
              <a:t>CNN</a:t>
            </a:r>
            <a:r>
              <a:rPr sz="2450" spc="25" dirty="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architectures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42638" y="5291458"/>
            <a:ext cx="512000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EDEDED"/>
                </a:solidFill>
                <a:latin typeface="Arial MT"/>
                <a:cs typeface="Arial MT"/>
              </a:rPr>
              <a:t>Confidence</a:t>
            </a:r>
            <a:r>
              <a:rPr sz="2450" spc="15" dirty="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validation</a:t>
            </a:r>
            <a:r>
              <a:rPr sz="2450" spc="-2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across</a:t>
            </a:r>
            <a:r>
              <a:rPr sz="2450" spc="-6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6F6F6"/>
                </a:solidFill>
                <a:latin typeface="Arial MT"/>
                <a:cs typeface="Arial MT"/>
              </a:rPr>
              <a:t>models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06" y="6455300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58722" y="6375194"/>
            <a:ext cx="199199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E6F9E1"/>
                </a:solidFill>
                <a:latin typeface="Arial MT"/>
                <a:cs typeface="Arial MT"/>
              </a:rPr>
              <a:t>Live</a:t>
            </a:r>
            <a:r>
              <a:rPr sz="2450" spc="15" dirty="0">
                <a:solidFill>
                  <a:srgbClr val="E6F9E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6F6F6"/>
                </a:solidFill>
                <a:latin typeface="Arial MT"/>
                <a:cs typeface="Arial MT"/>
              </a:rPr>
              <a:t>Detection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20499" y="6375194"/>
            <a:ext cx="38328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F9F9F9"/>
                </a:solidFill>
                <a:latin typeface="Arial MT"/>
                <a:cs typeface="Arial MT"/>
              </a:rPr>
              <a:t>Webcam</a:t>
            </a:r>
            <a:r>
              <a:rPr sz="2450" spc="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9E9E9"/>
                </a:solidFill>
                <a:latin typeface="Arial MT"/>
                <a:cs typeface="Arial MT"/>
              </a:rPr>
              <a:t>stream</a:t>
            </a:r>
            <a:r>
              <a:rPr sz="2450" spc="35" dirty="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integration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441539" y="6375194"/>
            <a:ext cx="406527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35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2450" spc="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EDEDED"/>
                </a:solidFill>
                <a:latin typeface="Arial MT"/>
                <a:cs typeface="Arial MT"/>
              </a:rPr>
              <a:t>monitoring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706" y="7539037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58611" y="7458930"/>
            <a:ext cx="280987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E2E2E2"/>
                </a:solidFill>
                <a:latin typeface="Arial MT"/>
                <a:cs typeface="Arial MT"/>
              </a:rPr>
              <a:t>Optimized</a:t>
            </a:r>
            <a:r>
              <a:rPr sz="2450" spc="-30" dirty="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6F6F6"/>
                </a:solidFill>
                <a:latin typeface="Arial MT"/>
                <a:cs typeface="Arial MT"/>
              </a:rPr>
              <a:t>Inference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20499" y="7458930"/>
            <a:ext cx="281178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E4E4E4"/>
                </a:solidFill>
                <a:latin typeface="Arial MT"/>
                <a:cs typeface="Arial MT"/>
              </a:rPr>
              <a:t>Weight</a:t>
            </a:r>
            <a:r>
              <a:rPr sz="2450" spc="-60" dirty="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Quantization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440478" y="7458930"/>
            <a:ext cx="429260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F6F6F6"/>
                </a:solidFill>
                <a:latin typeface="Arial MT"/>
                <a:cs typeface="Arial MT"/>
              </a:rPr>
              <a:t>Faster</a:t>
            </a:r>
            <a:r>
              <a:rPr sz="2450" spc="25" dirty="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FEFEF"/>
                </a:solidFill>
                <a:latin typeface="Arial MT"/>
                <a:cs typeface="Arial MT"/>
              </a:rPr>
              <a:t>response</a:t>
            </a:r>
            <a:r>
              <a:rPr sz="2450" spc="85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6E6E6"/>
                </a:solidFill>
                <a:latin typeface="Arial MT"/>
                <a:cs typeface="Arial MT"/>
              </a:rPr>
              <a:t>times</a:t>
            </a:r>
            <a:r>
              <a:rPr sz="2450" spc="-40" dirty="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83816"/>
                </a:solidFill>
                <a:latin typeface="Arial MT"/>
                <a:cs typeface="Arial MT"/>
              </a:rPr>
              <a:t>in</a:t>
            </a:r>
            <a:r>
              <a:rPr sz="2450" spc="-45" dirty="0">
                <a:solidFill>
                  <a:srgbClr val="483816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E9E9E9"/>
                </a:solidFill>
                <a:latin typeface="Arial MT"/>
                <a:cs typeface="Arial MT"/>
              </a:rPr>
              <a:t>cloud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706" y="8622774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60353" y="8542667"/>
            <a:ext cx="21932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Interactive</a:t>
            </a:r>
            <a:r>
              <a:rPr sz="24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E2FFE6"/>
                </a:solidFill>
                <a:latin typeface="Arial MT"/>
                <a:cs typeface="Arial MT"/>
              </a:rPr>
              <a:t>EDA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22927" y="8542667"/>
            <a:ext cx="33235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10" dirty="0">
                <a:solidFill>
                  <a:srgbClr val="EFEFEF"/>
                </a:solidFill>
                <a:latin typeface="Arial MT"/>
                <a:cs typeface="Arial MT"/>
              </a:rPr>
              <a:t>Visualization</a:t>
            </a:r>
            <a:r>
              <a:rPr sz="2450" spc="20" dirty="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7F7F7"/>
                </a:solidFill>
                <a:latin typeface="Arial MT"/>
                <a:cs typeface="Arial MT"/>
              </a:rPr>
              <a:t>dashboard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42983" y="8542667"/>
            <a:ext cx="408876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EBEBEB"/>
                </a:solidFill>
                <a:latin typeface="Arial MT"/>
                <a:cs typeface="Arial MT"/>
              </a:rPr>
              <a:t>Transparency</a:t>
            </a:r>
            <a:r>
              <a:rPr sz="2450" spc="35" dirty="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FF6C6"/>
                </a:solidFill>
                <a:latin typeface="Arial MT"/>
                <a:cs typeface="Arial MT"/>
              </a:rPr>
              <a:t>in</a:t>
            </a:r>
            <a:r>
              <a:rPr sz="2450" spc="-135" dirty="0">
                <a:solidFill>
                  <a:srgbClr val="EFF6C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8E8E8"/>
                </a:solidFill>
                <a:latin typeface="Arial MT"/>
                <a:cs typeface="Arial MT"/>
              </a:rPr>
              <a:t>training</a:t>
            </a:r>
            <a:r>
              <a:rPr sz="2450" spc="4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F4F4F4"/>
                </a:solidFill>
                <a:latin typeface="Arial MT"/>
                <a:cs typeface="Arial MT"/>
              </a:rPr>
              <a:t>data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502511"/>
            <a:ext cx="20088393" cy="551292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706" y="1083736"/>
            <a:ext cx="20080605" cy="652145"/>
          </a:xfrm>
          <a:custGeom>
            <a:avLst/>
            <a:gdLst/>
            <a:ahLst/>
            <a:cxnLst/>
            <a:rect l="l" t="t" r="r" b="b"/>
            <a:pathLst>
              <a:path w="20080605" h="652144">
                <a:moveTo>
                  <a:pt x="20080541" y="651812"/>
                </a:moveTo>
                <a:lnTo>
                  <a:pt x="0" y="65181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51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950" spc="-40" dirty="0"/>
              <a:t>Scalable</a:t>
            </a:r>
            <a:r>
              <a:rPr sz="6950" spc="-180" dirty="0"/>
              <a:t> </a:t>
            </a:r>
            <a:r>
              <a:rPr sz="6950" dirty="0"/>
              <a:t>Cloud</a:t>
            </a:r>
            <a:r>
              <a:rPr sz="6950" spc="-335" dirty="0"/>
              <a:t> </a:t>
            </a:r>
            <a:r>
              <a:rPr sz="6950" spc="-10" dirty="0"/>
              <a:t>Architecture</a:t>
            </a:r>
            <a:endParaRPr sz="6950"/>
          </a:p>
        </p:txBody>
      </p:sp>
      <p:sp>
        <p:nvSpPr>
          <p:cNvPr id="5" name="object 5"/>
          <p:cNvSpPr txBox="1"/>
          <p:nvPr/>
        </p:nvSpPr>
        <p:spPr>
          <a:xfrm>
            <a:off x="9780989" y="3683522"/>
            <a:ext cx="29083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65" dirty="0">
                <a:solidFill>
                  <a:srgbClr val="DFFF9E"/>
                </a:solidFill>
                <a:latin typeface="Calibri"/>
                <a:cs typeface="Calibri"/>
              </a:rPr>
              <a:t>P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4308" y="3832343"/>
            <a:ext cx="6171342" cy="439287"/>
          </a:xfrm>
          <a:prstGeom prst="rect">
            <a:avLst/>
          </a:prstGeom>
          <a:solidFill>
            <a:srgbClr val="1A181A"/>
          </a:solidFill>
        </p:spPr>
        <p:txBody>
          <a:bodyPr vert="horz" wrap="square" lIns="0" tIns="0" rIns="0" bIns="0" rtlCol="0">
            <a:spAutoFit/>
          </a:bodyPr>
          <a:lstStyle/>
          <a:p>
            <a:pPr marL="233679">
              <a:lnSpc>
                <a:spcPts val="3254"/>
              </a:lnSpc>
            </a:pPr>
            <a:r>
              <a:rPr lang="en-IN" sz="3600" spc="185" dirty="0">
                <a:solidFill>
                  <a:srgbClr val="DFFF9E"/>
                </a:solidFill>
                <a:latin typeface="Calibri"/>
                <a:cs typeface="Calibri"/>
              </a:rPr>
              <a:t>P</a:t>
            </a:r>
            <a:r>
              <a:rPr sz="3600" spc="185" dirty="0" err="1">
                <a:solidFill>
                  <a:srgbClr val="DFFF9E"/>
                </a:solidFill>
                <a:latin typeface="Calibri"/>
                <a:cs typeface="Calibri"/>
              </a:rPr>
              <a:t>roduction</a:t>
            </a:r>
            <a:r>
              <a:rPr sz="3600" spc="320" dirty="0">
                <a:solidFill>
                  <a:srgbClr val="DFFF9E"/>
                </a:solidFill>
                <a:latin typeface="Calibri"/>
                <a:cs typeface="Calibri"/>
              </a:rPr>
              <a:t> </a:t>
            </a:r>
            <a:r>
              <a:rPr sz="3600" spc="145" dirty="0">
                <a:solidFill>
                  <a:srgbClr val="E2FBA8"/>
                </a:solidFill>
                <a:latin typeface="Calibri"/>
                <a:cs typeface="Calibri"/>
              </a:rPr>
              <a:t>Deployment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BC4823-3725-9E30-213A-415ED3EFF353}"/>
              </a:ext>
            </a:extLst>
          </p:cNvPr>
          <p:cNvSpPr/>
          <p:nvPr/>
        </p:nvSpPr>
        <p:spPr>
          <a:xfrm>
            <a:off x="5175250" y="2759075"/>
            <a:ext cx="8991600" cy="52014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1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585194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84</TotalTime>
  <Words>338</Words>
  <Application>Microsoft Office PowerPoint</Application>
  <PresentationFormat>Custom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MT</vt:lpstr>
      <vt:lpstr>Calibri</vt:lpstr>
      <vt:lpstr>Century Gothic</vt:lpstr>
      <vt:lpstr>Times New Roman</vt:lpstr>
      <vt:lpstr>Wingdings 3</vt:lpstr>
      <vt:lpstr>Ion</vt:lpstr>
      <vt:lpstr>SmartVision AI</vt:lpstr>
      <vt:lpstr>Identifying the Recognition Gap</vt:lpstr>
      <vt:lpstr>Integrated AI Vision Solution</vt:lpstr>
      <vt:lpstr>Targeted Dataset Characteristics</vt:lpstr>
      <vt:lpstr>Advanced Technology Stack</vt:lpstr>
      <vt:lpstr>Transfer Learning Implementation</vt:lpstr>
      <vt:lpstr>PowerPoint Presentation</vt:lpstr>
      <vt:lpstr>Benchmarking Model Accuracy</vt:lpstr>
      <vt:lpstr>Core Application Feature Matrix</vt:lpstr>
      <vt:lpstr>Scalable Cloud Architecture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Deepika  Sunilkumar</cp:lastModifiedBy>
  <cp:revision>1</cp:revision>
  <dcterms:created xsi:type="dcterms:W3CDTF">2026-05-28T12:07:38Z</dcterms:created>
  <dcterms:modified xsi:type="dcterms:W3CDTF">2026-05-28T13:32:14Z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2026-05-28T00:00:00Z</vt:filetime>
  </property>
  <property fmtid="{D5CDD505-2E9C-101B-9397-08002B2CF9AE}" pid="4" name="LastSaved">
    <vt:filetime>2026-05-28T00:00:00Z</vt:filetime>
  </property>
</Properties>
</file>